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5"/>
  </p:notesMasterIdLst>
  <p:sldIdLst>
    <p:sldId id="257" r:id="rId3"/>
    <p:sldId id="1250" r:id="rId4"/>
    <p:sldId id="1253" r:id="rId5"/>
    <p:sldId id="1251" r:id="rId6"/>
    <p:sldId id="1252" r:id="rId7"/>
    <p:sldId id="1254" r:id="rId8"/>
    <p:sldId id="1255" r:id="rId9"/>
    <p:sldId id="1257" r:id="rId10"/>
    <p:sldId id="1269" r:id="rId11"/>
    <p:sldId id="1266" r:id="rId12"/>
    <p:sldId id="1267" r:id="rId13"/>
    <p:sldId id="1268" r:id="rId14"/>
    <p:sldId id="1256" r:id="rId15"/>
    <p:sldId id="1258" r:id="rId16"/>
    <p:sldId id="1259" r:id="rId17"/>
    <p:sldId id="1260" r:id="rId18"/>
    <p:sldId id="1261" r:id="rId19"/>
    <p:sldId id="1262" r:id="rId20"/>
    <p:sldId id="1263" r:id="rId21"/>
    <p:sldId id="1264" r:id="rId22"/>
    <p:sldId id="1265" r:id="rId23"/>
    <p:sldId id="12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1B3E"/>
    <a:srgbClr val="1EDE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48B152-2313-D6FF-8BDA-794DE84FA73C}" v="1170" dt="2025-09-15T07:14:33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outlineViewPr>
    <p:cViewPr>
      <p:scale>
        <a:sx n="33" d="100"/>
        <a:sy n="33" d="100"/>
      </p:scale>
      <p:origin x="0" y="-947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1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EB3B9-347B-40BA-8FE2-BC5A41D2966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CA6F6-4E56-4B87-AC66-91A06872A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8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CA6F6-4E56-4B87-AC66-91A06872A4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12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D48B2-9EB0-4B37-9B35-FC11E2EA535A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sch Office Sans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27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C59C-D672-170A-56FA-F4F8A0687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F819A-B819-88C6-33D8-EEF933C96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7A3F4-6CA8-CE04-7E58-0EC35C418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511F9-403F-1197-FA52-712D04D8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01567-9A4A-DC6C-377D-2CD3C849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6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8487-268E-3AA2-E0BA-AA7FCCB0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B327B-A538-639A-B1B6-9E53AC650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13221-4ADD-5747-3713-F494F87C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47F4A-B9E9-68BB-2783-B3166D75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F68F2-B8F6-0411-0289-89FF7A57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74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8020-642E-F4D5-FD93-B47556DA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5AE09-97FE-9CEE-FCFD-7D5CB0CB5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FDE93-DCDA-8629-82F8-96249B00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FD05B-1015-4A2A-D44C-81E8C385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95A9E-1C66-B886-E388-89AB815C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8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7834-C6AB-239A-BB89-950E7926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F10E-C6FA-E5AD-9C55-981C0959B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EFCAD-82D1-534A-F980-56C49C65A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DBDA-2162-3705-24FB-FFDA971A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D05A9-9ED9-5456-31B4-AB1C0108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84151-D7A9-B6FE-C3AA-AD9A9E2B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13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C69F3-DB4D-2F87-E90E-C74E2EB2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147E1-2DD9-BFC1-550C-471450EFE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4B19E-447F-E2F8-C966-39C23921E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0D41C-6622-B4E0-37F6-08DFF0C40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97661-C285-A65A-0B7F-2FCB0DF68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BEB9F-FC91-BB2E-9073-1083BA6A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B1341-2FA2-B462-5B27-6EA6AC5DC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96F4B-1C91-1EF5-F511-D99BFED6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38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0493-117E-4285-BF09-8C4C1881B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717CC-A3AF-91DB-01B2-D2C355BE9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48ABF-7A6D-C171-3A19-CB2BBD61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1D198-7AAF-418A-9FAC-CC1835A0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F47B0-6570-B5ED-C133-FE4E7FB9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72045-51D1-7355-D94F-8F61E6F1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465FA-E53C-EC76-F8A8-5786217E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95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5998-1E9F-ECEF-DDCB-69E1BFCD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D1E9F-CCC6-C2BC-BE19-9FE7E6816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8E595-7015-B3A3-F9C9-8152FB809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DDEFB-255B-6B5F-D562-D6F4807F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934B9-2178-2DEA-1905-A7C80A1C0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F27B8-65C4-17E9-87AD-3B2A8DFE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37A6-FD6F-0DCB-B094-FA43FCC5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3D0BB2-D1BF-0C6D-166D-E6D8AD94A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3DABC-589B-132C-2F6F-3DBE39AD6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02078-18DE-FC53-7D2A-9ECC1A8A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37204-27FF-04DC-ED9D-BE72FAAE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057EB-6FCB-A9AD-1BDD-B49CBB1D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0E4E-9DCC-3D19-294D-F92984DD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28B82-0A09-2F6C-0140-F5BB98480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FBC0-CE89-BA72-33C5-D2624F34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F0990-6B96-AC5C-A7EC-F628EBE0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C8F6F-9C22-F0DB-1B85-7931B71A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4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6D264-1E5F-95BB-E943-24880DC03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92EC0-B274-8C2B-9085-C79984F92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ABEAB-AEC5-DD06-F810-5DF8A803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993F-086B-3248-D86A-D0BF27C0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8332A-4B02-3397-981D-18FDEB8C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88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177" y="2892853"/>
            <a:ext cx="10301466" cy="167548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08177" y="4713579"/>
            <a:ext cx="10301466" cy="139410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67"/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528" cy="22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06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639">
          <p15:clr>
            <a:srgbClr val="FBAE40"/>
          </p15:clr>
        </p15:guide>
        <p15:guide id="4" orient="horz" pos="2590">
          <p15:clr>
            <a:srgbClr val="FBAE40"/>
          </p15:clr>
        </p15:guide>
        <p15:guide id="5" orient="horz" pos="2669">
          <p15:clr>
            <a:srgbClr val="FBAE40"/>
          </p15:clr>
        </p15:guide>
        <p15:guide id="6" orient="horz" pos="34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177" y="2892853"/>
            <a:ext cx="10301466" cy="167548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08177" y="4713579"/>
            <a:ext cx="10301466" cy="139410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67"/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528" cy="22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51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639">
          <p15:clr>
            <a:srgbClr val="FBAE40"/>
          </p15:clr>
        </p15:guide>
        <p15:guide id="4" orient="horz" pos="2590">
          <p15:clr>
            <a:srgbClr val="FBAE40"/>
          </p15:clr>
        </p15:guide>
        <p15:guide id="5" orient="horz" pos="2669">
          <p15:clr>
            <a:srgbClr val="FBAE40"/>
          </p15:clr>
        </p15:guide>
        <p15:guide id="6" orient="horz" pos="34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6162" y="1280490"/>
            <a:ext cx="7927662" cy="2272101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656162" y="3697830"/>
            <a:ext cx="7927662" cy="139410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67"/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0480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49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70">
          <p15:clr>
            <a:srgbClr val="FBAE40"/>
          </p15:clr>
        </p15:guide>
        <p15:guide id="2" pos="6566">
          <p15:clr>
            <a:srgbClr val="FBAE40"/>
          </p15:clr>
        </p15:guide>
        <p15:guide id="3" orient="horz" pos="2093">
          <p15:clr>
            <a:srgbClr val="FBAE40"/>
          </p15:clr>
        </p15:guide>
        <p15:guide id="4" orient="horz" pos="2014">
          <p15:clr>
            <a:srgbClr val="FBAE40"/>
          </p15:clr>
        </p15:guide>
        <p15:guide id="5" orient="horz" pos="347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8177" y="2892850"/>
            <a:ext cx="10301466" cy="3214829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1" y="110"/>
            <a:ext cx="12192000" cy="228458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10162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00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7684" y="109"/>
            <a:ext cx="2453979" cy="2284587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56"/>
              </a:spcBef>
              <a:buFontTx/>
              <a:buNone/>
              <a:defRPr sz="16671" b="1" kern="0" baseline="0">
                <a:solidFill>
                  <a:schemeClr val="bg1"/>
                </a:solidFill>
              </a:defRPr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3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639">
          <p15:clr>
            <a:srgbClr val="FBAE40"/>
          </p15:clr>
        </p15:guide>
        <p15:guide id="4" orient="horz" pos="346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45312" y="1333760"/>
            <a:ext cx="7860876" cy="3492881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110"/>
            <a:ext cx="3044881" cy="685789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10162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00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6149" y="110"/>
            <a:ext cx="2453979" cy="2284587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56"/>
              </a:spcBef>
              <a:buFontTx/>
              <a:buNone/>
              <a:defRPr sz="16671" b="1" kern="0" baseline="0">
                <a:solidFill>
                  <a:schemeClr val="bg1"/>
                </a:solidFill>
              </a:defRPr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505" y="1"/>
            <a:ext cx="76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5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64">
          <p15:clr>
            <a:srgbClr val="FBAE40"/>
          </p15:clr>
        </p15:guide>
        <p15:guide id="2" pos="6524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2738">
          <p15:clr>
            <a:srgbClr val="FBAE40"/>
          </p15:clr>
        </p15:guide>
        <p15:guide id="5" pos="29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2192000" cy="6153582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232082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48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2192000" cy="6153582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52131" y="1152296"/>
            <a:ext cx="4201216" cy="276071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2226583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48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2192000" cy="3428882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28065" y="3885116"/>
            <a:ext cx="11735396" cy="2268465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3719794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949">
          <p15:clr>
            <a:srgbClr val="FBAE40"/>
          </p15:clr>
        </p15:guide>
        <p15:guide id="4" orient="horz" pos="3489">
          <p15:clr>
            <a:srgbClr val="FBAE40"/>
          </p15:clr>
        </p15:guide>
        <p15:guide id="5" orient="horz" pos="220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6097764" cy="6857763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6552231" y="456219"/>
            <a:ext cx="5108685" cy="56973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220057" indent="0">
              <a:buFontTx/>
              <a:buNone/>
              <a:defRPr/>
            </a:lvl2pPr>
            <a:lvl3pPr marL="460120" indent="0">
              <a:buFontTx/>
              <a:buNone/>
              <a:defRPr/>
            </a:lvl3pPr>
            <a:lvl4pPr marL="680177" indent="0">
              <a:buFontTx/>
              <a:buNone/>
              <a:defRPr/>
            </a:lvl4pPr>
            <a:lvl5pPr marL="680177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505" y="1"/>
            <a:ext cx="76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78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56">
          <p15:clr>
            <a:srgbClr val="FBAE40"/>
          </p15:clr>
        </p15:guide>
        <p15:guide id="2" pos="6609">
          <p15:clr>
            <a:srgbClr val="FBAE40"/>
          </p15:clr>
        </p15:guide>
        <p15:guide id="3" orient="horz" pos="257">
          <p15:clr>
            <a:srgbClr val="FBAE40"/>
          </p15:clr>
        </p15:guide>
        <p15:guide id="4" orient="horz" pos="3489">
          <p15:clr>
            <a:srgbClr val="FBAE40"/>
          </p15:clr>
        </p15:guide>
        <p15:guide id="5" pos="3713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2192000" cy="678281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0750013" y="6180791"/>
            <a:ext cx="1368764" cy="562527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11">
                <a:noFill/>
              </a:defRPr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6072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8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2114366" cy="6857763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10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505" y="1"/>
            <a:ext cx="76202" cy="6858000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0750013" y="6180791"/>
            <a:ext cx="1368764" cy="562527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11">
                <a:noFill/>
              </a:defRPr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1423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6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28066" y="1440370"/>
            <a:ext cx="11735396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373573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0"/>
            <a:ext cx="5461580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6505883" y="1440369"/>
            <a:ext cx="5461580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214434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3225">
          <p15:clr>
            <a:srgbClr val="FBAE40"/>
          </p15:clr>
        </p15:guide>
        <p15:guide id="9" pos="368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0"/>
            <a:ext cx="3521019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35254" y="1440370"/>
            <a:ext cx="3521019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8442443" y="1440369"/>
            <a:ext cx="3521019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930186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2126">
          <p15:clr>
            <a:srgbClr val="FBAE40"/>
          </p15:clr>
        </p15:guide>
        <p15:guide id="9" pos="2455">
          <p15:clr>
            <a:srgbClr val="FBAE40"/>
          </p15:clr>
        </p15:guide>
        <p15:guide id="10" pos="4453">
          <p15:clr>
            <a:srgbClr val="FBAE40"/>
          </p15:clr>
        </p15:guide>
        <p15:guide id="11" pos="478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39702"/>
            <a:ext cx="2824817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198259" y="1439703"/>
            <a:ext cx="2824817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168452" y="1439702"/>
            <a:ext cx="2824817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9138644" y="1439703"/>
            <a:ext cx="2824817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83450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1731">
          <p15:clr>
            <a:srgbClr val="FBAE40"/>
          </p15:clr>
        </p15:guide>
        <p15:guide id="9" pos="1810">
          <p15:clr>
            <a:srgbClr val="FBAE40"/>
          </p15:clr>
        </p15:guide>
        <p15:guide id="10" pos="3417">
          <p15:clr>
            <a:srgbClr val="FBAE40"/>
          </p15:clr>
        </p15:guide>
        <p15:guide id="11" pos="3495">
          <p15:clr>
            <a:srgbClr val="FBAE40"/>
          </p15:clr>
        </p15:guide>
        <p15:guide id="12" pos="5098">
          <p15:clr>
            <a:srgbClr val="FBAE40"/>
          </p15:clr>
        </p15:guide>
        <p15:guide id="13" pos="51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1"/>
            <a:ext cx="11735396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28066" y="3868995"/>
            <a:ext cx="11735396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19286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orient="horz" pos="2113">
          <p15:clr>
            <a:srgbClr val="FBAE40"/>
          </p15:clr>
        </p15:guide>
        <p15:guide id="9" orient="horz" pos="219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1"/>
            <a:ext cx="5461580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6501881" y="1440369"/>
            <a:ext cx="5461580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28066" y="3868995"/>
            <a:ext cx="5461580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6501881" y="3868995"/>
            <a:ext cx="5461580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14148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orient="horz" pos="2113">
          <p15:clr>
            <a:srgbClr val="FBAE40"/>
          </p15:clr>
        </p15:guide>
        <p15:guide id="9" orient="horz" pos="2192">
          <p15:clr>
            <a:srgbClr val="FBAE40"/>
          </p15:clr>
        </p15:guide>
        <p15:guide id="10" pos="3225">
          <p15:clr>
            <a:srgbClr val="FBAE40"/>
          </p15:clr>
        </p15:guide>
        <p15:guide id="11" pos="36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1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4335254" y="1440369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8442443" y="1440369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28066" y="3868995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4335254" y="3868995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8442443" y="3868995"/>
            <a:ext cx="3521019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463075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2126">
          <p15:clr>
            <a:srgbClr val="FBAE40"/>
          </p15:clr>
        </p15:guide>
        <p15:guide id="9" pos="2457">
          <p15:clr>
            <a:srgbClr val="FBAE40"/>
          </p15:clr>
        </p15:guide>
        <p15:guide id="10" pos="4453">
          <p15:clr>
            <a:srgbClr val="FBAE40"/>
          </p15:clr>
        </p15:guide>
        <p15:guide id="11" pos="4782">
          <p15:clr>
            <a:srgbClr val="FBAE40"/>
          </p15:clr>
        </p15:guide>
        <p15:guide id="12" orient="horz" pos="2113">
          <p15:clr>
            <a:srgbClr val="FBAE40"/>
          </p15:clr>
        </p15:guide>
        <p15:guide id="13" orient="horz" pos="219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28066" y="1440371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198259" y="1440369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6168452" y="1440371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9138644" y="1440369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28066" y="3868995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3198259" y="3868995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6168452" y="3868995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9138644" y="3868995"/>
            <a:ext cx="2824817" cy="2284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10257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orient="horz" pos="2113">
          <p15:clr>
            <a:srgbClr val="FBAE40"/>
          </p15:clr>
        </p15:guide>
        <p15:guide id="9" orient="horz" pos="2192">
          <p15:clr>
            <a:srgbClr val="FBAE40"/>
          </p15:clr>
        </p15:guide>
        <p15:guide id="10" pos="1731">
          <p15:clr>
            <a:srgbClr val="FBAE40"/>
          </p15:clr>
        </p15:guide>
        <p15:guide id="11" pos="1810">
          <p15:clr>
            <a:srgbClr val="FBAE40"/>
          </p15:clr>
        </p15:guide>
        <p15:guide id="12" pos="3416">
          <p15:clr>
            <a:srgbClr val="FBAE40"/>
          </p15:clr>
        </p15:guide>
        <p15:guide id="13" pos="3497">
          <p15:clr>
            <a:srgbClr val="FBAE40"/>
          </p15:clr>
        </p15:guide>
        <p15:guide id="14" pos="5098">
          <p15:clr>
            <a:srgbClr val="FBAE40"/>
          </p15:clr>
        </p15:guide>
        <p15:guide id="15" pos="51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4597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643803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5B1A5-BD8D-BA5C-7B76-50560A06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3618E-8A76-BE38-84D2-0E436B713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F4BFF-A476-D5DC-5264-9C3077328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7F82-E84F-4CB7-8320-0DE11147138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ADDE5-9885-0FA0-851A-7055D748C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3F7AA-1BD9-23D2-CC4D-ADF0399A5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E731D-6F95-4AAA-B7A9-0E3DE3A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7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066" y="720185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066" y="1440370"/>
            <a:ext cx="11735396" cy="47132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066" y="6297619"/>
            <a:ext cx="320415" cy="45590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334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608176" y="6321626"/>
            <a:ext cx="10142935" cy="119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101626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11"/>
              </a:spcAft>
              <a:buClrTx/>
              <a:buSzTx/>
              <a:buFontTx/>
              <a:buNone/>
              <a:tabLst/>
              <a:defRPr/>
            </a:pPr>
            <a:r>
              <a:rPr lang="en-US" sz="667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67" kern="0" baseline="0" noProof="1">
                <a:solidFill>
                  <a:schemeClr val="tx1"/>
                </a:solidFill>
                <a:latin typeface="+mn-lt"/>
              </a:rPr>
              <a:t> | Bosch Digital_</a:t>
            </a:r>
            <a:endParaRPr kumimoji="0" lang="en-US" sz="667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608176" y="6439323"/>
            <a:ext cx="10142935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11"/>
              </a:spcAft>
            </a:pPr>
            <a:r>
              <a:rPr lang="en-US" sz="667" kern="0" baseline="0" noProof="1">
                <a:solidFill>
                  <a:srgbClr val="B2B3B5"/>
                </a:solidFill>
                <a:latin typeface="+mn-lt"/>
              </a:rPr>
              <a:t>© Robert Bosch GmbH 2024.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907006" y="5983253"/>
            <a:ext cx="10174944" cy="1200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101626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11"/>
              </a:spcAft>
              <a:buClrTx/>
              <a:buSzTx/>
              <a:buFontTx/>
              <a:buNone/>
              <a:tabLst/>
              <a:defRPr/>
            </a:pPr>
            <a:r>
              <a:rPr lang="en-US" sz="667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67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11"/>
              </a:spcAft>
            </a:pPr>
            <a:r>
              <a:rPr lang="en-US" sz="667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67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81744"/>
            <a:ext cx="12191528" cy="7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8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hf hdr="0" ftr="0" dt="0"/>
  <p:txStyles>
    <p:titleStyle>
      <a:lvl1pPr algn="l" defTabSz="1016190" rtl="0" eaLnBrk="1" latinLnBrk="0" hangingPunct="1">
        <a:lnSpc>
          <a:spcPct val="89000"/>
        </a:lnSpc>
        <a:spcBef>
          <a:spcPct val="0"/>
        </a:spcBef>
        <a:buNone/>
        <a:defRPr sz="3112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6067" indent="-256067" algn="l" defTabSz="1016190" rtl="0" eaLnBrk="1" latinLnBrk="0" hangingPunct="1">
        <a:lnSpc>
          <a:spcPct val="107000"/>
        </a:lnSpc>
        <a:spcBef>
          <a:spcPts val="556"/>
        </a:spcBef>
        <a:buFont typeface="Wingdings" panose="05000000000000000000" pitchFamily="2" charset="2"/>
        <a:buChar char="§"/>
        <a:defRPr sz="2001" kern="1200">
          <a:solidFill>
            <a:schemeClr val="tx1"/>
          </a:solidFill>
          <a:latin typeface="+mn-lt"/>
          <a:ea typeface="+mn-ea"/>
          <a:cs typeface="+mn-cs"/>
        </a:defRPr>
      </a:lvl1pPr>
      <a:lvl2pPr marL="764199" indent="-256067" algn="l" defTabSz="1016190" rtl="0" eaLnBrk="1" latinLnBrk="0" hangingPunct="1">
        <a:lnSpc>
          <a:spcPct val="103000"/>
        </a:lnSpc>
        <a:spcBef>
          <a:spcPts val="556"/>
        </a:spcBef>
        <a:buFont typeface="Symbol" panose="05050102010706020507" pitchFamily="18" charset="2"/>
        <a:buChar char="-"/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1272331" indent="-256067" algn="l" defTabSz="1016190" rtl="0" eaLnBrk="1" latinLnBrk="0" hangingPunct="1">
        <a:lnSpc>
          <a:spcPct val="102000"/>
        </a:lnSpc>
        <a:spcBef>
          <a:spcPts val="556"/>
        </a:spcBef>
        <a:buFont typeface="Symbol" panose="05050102010706020507" pitchFamily="18" charset="2"/>
        <a:buChar char="-"/>
        <a:defRPr sz="1556" kern="1200">
          <a:solidFill>
            <a:schemeClr val="tx1"/>
          </a:solidFill>
          <a:latin typeface="+mn-lt"/>
          <a:ea typeface="+mn-ea"/>
          <a:cs typeface="+mn-cs"/>
        </a:defRPr>
      </a:lvl3pPr>
      <a:lvl4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4pPr>
      <a:lvl5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5pPr>
      <a:lvl6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6pPr>
      <a:lvl7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7pPr>
      <a:lvl8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>
          <a:solidFill>
            <a:schemeClr val="tx1"/>
          </a:solidFill>
          <a:latin typeface="+mn-lt"/>
          <a:ea typeface="+mn-ea"/>
          <a:cs typeface="+mn-cs"/>
        </a:defRPr>
      </a:lvl8pPr>
      <a:lvl9pPr marL="1780463" indent="-256067" algn="l" defTabSz="1016190" rtl="0" eaLnBrk="1" latinLnBrk="0" hangingPunct="1">
        <a:lnSpc>
          <a:spcPct val="103000"/>
        </a:lnSpc>
        <a:spcBef>
          <a:spcPts val="556"/>
        </a:spcBef>
        <a:buFont typeface="Bosch Office Sans" pitchFamily="2" charset="0"/>
        <a:buChar char="‒"/>
        <a:defRPr sz="1445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1pPr>
      <a:lvl2pPr marL="508094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2pPr>
      <a:lvl3pPr marL="1016190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524284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4pPr>
      <a:lvl5pPr marL="2032378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5pPr>
      <a:lvl6pPr marL="2540474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6pPr>
      <a:lvl7pPr marL="3048568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7pPr>
      <a:lvl8pPr marL="3556663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8pPr>
      <a:lvl9pPr marL="4064759" algn="l" defTabSz="1016190" rtl="0" eaLnBrk="1" latinLnBrk="0" hangingPunct="1">
        <a:defRPr sz="20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252F04-8C12-AC5C-579E-C5F0AE2AAB15}"/>
              </a:ext>
            </a:extLst>
          </p:cNvPr>
          <p:cNvSpPr txBox="1"/>
          <p:nvPr/>
        </p:nvSpPr>
        <p:spPr>
          <a:xfrm>
            <a:off x="1014705" y="2864304"/>
            <a:ext cx="6097554" cy="29341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Project Name: Order-Kraft</a:t>
            </a:r>
          </a:p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b="1" dirty="0">
                <a:solidFill>
                  <a:srgbClr val="424242"/>
                </a:solidFill>
                <a:latin typeface="Segoe Sans"/>
              </a:rPr>
              <a:t>Squad - 3</a:t>
            </a:r>
            <a:endParaRPr lang="en-US" b="1" i="0" dirty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Team Members:</a:t>
            </a:r>
            <a:endParaRPr lang="en-US" b="0" i="0" dirty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24242"/>
                </a:solidFill>
                <a:latin typeface="Segoe Sans"/>
              </a:rPr>
              <a:t> Tejaswini</a:t>
            </a:r>
            <a:endParaRPr lang="en-US" b="0" i="0" dirty="0">
              <a:solidFill>
                <a:srgbClr val="424242"/>
              </a:solidFill>
              <a:effectLst/>
              <a:latin typeface="Segoe Sans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24242"/>
                </a:solidFill>
                <a:latin typeface="Segoe Sans"/>
              </a:rPr>
              <a:t> Lokesh</a:t>
            </a:r>
            <a:endParaRPr lang="en-US" b="0" i="0" dirty="0">
              <a:solidFill>
                <a:srgbClr val="424242"/>
              </a:solidFill>
              <a:effectLst/>
              <a:latin typeface="Segoe Sans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24242"/>
                </a:solidFill>
                <a:latin typeface="Segoe Sans"/>
              </a:rPr>
              <a:t> Sai Vivek</a:t>
            </a:r>
            <a:endParaRPr lang="en-US" b="0" i="0" dirty="0">
              <a:solidFill>
                <a:srgbClr val="424242"/>
              </a:solidFill>
              <a:effectLst/>
              <a:latin typeface="Segoe Sans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24242"/>
                </a:solidFill>
                <a:latin typeface="Segoe Sans"/>
              </a:rPr>
              <a:t> </a:t>
            </a:r>
            <a:r>
              <a:rPr lang="en-US" dirty="0" err="1">
                <a:solidFill>
                  <a:srgbClr val="424242"/>
                </a:solidFill>
                <a:latin typeface="Segoe Sans"/>
              </a:rPr>
              <a:t>Rahamthulla</a:t>
            </a:r>
            <a:endParaRPr lang="en-US" b="0" i="0" dirty="0">
              <a:solidFill>
                <a:srgbClr val="424242"/>
              </a:solidFill>
              <a:effectLst/>
              <a:latin typeface="Segoe Sans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24242"/>
                </a:solidFill>
                <a:latin typeface="Segoe Sans"/>
              </a:rPr>
              <a:t> Yogeshwaran</a:t>
            </a:r>
            <a:endParaRPr lang="en-US" b="0" i="0" dirty="0">
              <a:solidFill>
                <a:srgbClr val="424242"/>
              </a:solidFill>
              <a:effectLst/>
              <a:latin typeface="Segoe Sans"/>
            </a:endParaRPr>
          </a:p>
        </p:txBody>
      </p:sp>
    </p:spTree>
    <p:extLst>
      <p:ext uri="{BB962C8B-B14F-4D97-AF65-F5344CB8AC3E}">
        <p14:creationId xmlns:p14="http://schemas.microsoft.com/office/powerpoint/2010/main" val="428312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5B0098-56CC-191D-1E55-4D0A397721F7}"/>
              </a:ext>
            </a:extLst>
          </p:cNvPr>
          <p:cNvSpPr txBox="1"/>
          <p:nvPr/>
        </p:nvSpPr>
        <p:spPr>
          <a:xfrm>
            <a:off x="406389" y="303554"/>
            <a:ext cx="60960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000" b="1" i="0" dirty="0">
                <a:solidFill>
                  <a:srgbClr val="FF0000"/>
                </a:solidFill>
                <a:effectLst/>
                <a:latin typeface="Segoe Sans"/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87684-9823-19BF-12C0-71C65A3CD817}"/>
              </a:ext>
            </a:extLst>
          </p:cNvPr>
          <p:cNvSpPr txBox="1"/>
          <p:nvPr/>
        </p:nvSpPr>
        <p:spPr>
          <a:xfrm>
            <a:off x="406389" y="734017"/>
            <a:ext cx="11036194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OrderKraft</a:t>
            </a:r>
            <a:r>
              <a:rPr lang="en-US" dirty="0">
                <a:ea typeface="+mn-lt"/>
                <a:cs typeface="+mn-lt"/>
              </a:rPr>
              <a:t> is an advanced supply chain and order management platform built to streamline manufacturing processes. By digitizing and automating every step — from order intake to final delivery — it helps businesses achieve higher efficiency, accuracy, and control over their operations.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F3D03-D2B2-7D26-439D-5704EAE3A1C9}"/>
              </a:ext>
            </a:extLst>
          </p:cNvPr>
          <p:cNvSpPr txBox="1"/>
          <p:nvPr/>
        </p:nvSpPr>
        <p:spPr>
          <a:xfrm>
            <a:off x="469783" y="1726173"/>
            <a:ext cx="10846966" cy="4682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Segoe Sans"/>
              </a:rPr>
              <a:t>Purpose and Vision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b="1" dirty="0">
                <a:latin typeface="Segoe Sans"/>
                <a:ea typeface="+mn-lt"/>
                <a:cs typeface="+mn-lt"/>
              </a:rPr>
              <a:t>Automation for Efficiency:</a:t>
            </a:r>
            <a:br>
              <a:rPr lang="en-US" sz="1400" b="1" dirty="0">
                <a:latin typeface="Segoe Sans"/>
                <a:ea typeface="+mn-lt"/>
                <a:cs typeface="+mn-lt"/>
              </a:rPr>
            </a:br>
            <a:r>
              <a:rPr lang="en-US" dirty="0">
                <a:latin typeface="Segoe Sans"/>
                <a:ea typeface="+mn-lt"/>
                <a:cs typeface="+mn-lt"/>
              </a:rPr>
              <a:t> </a:t>
            </a:r>
            <a:r>
              <a:rPr lang="en-US" dirty="0" err="1">
                <a:latin typeface="Segoe Sans"/>
                <a:ea typeface="+mn-lt"/>
                <a:cs typeface="+mn-lt"/>
              </a:rPr>
              <a:t>OrderKraft</a:t>
            </a:r>
            <a:r>
              <a:rPr lang="en-US" dirty="0">
                <a:latin typeface="Segoe Sans"/>
                <a:ea typeface="+mn-lt"/>
                <a:cs typeface="+mn-lt"/>
              </a:rPr>
              <a:t> automates key workflows, minimizing manual errors and boosting overall productivity.</a:t>
            </a:r>
          </a:p>
          <a:p>
            <a:endParaRPr lang="en-US" dirty="0"/>
          </a:p>
          <a:p>
            <a:r>
              <a:rPr lang="en-US" b="1" dirty="0">
                <a:latin typeface="Segoe Sans"/>
                <a:ea typeface="+mn-lt"/>
                <a:cs typeface="+mn-lt"/>
              </a:rPr>
              <a:t>Seamless Order Management:</a:t>
            </a:r>
            <a:br>
              <a:rPr lang="en-US" dirty="0">
                <a:latin typeface="Segoe Sans"/>
                <a:ea typeface="+mn-lt"/>
                <a:cs typeface="+mn-lt"/>
              </a:rPr>
            </a:br>
            <a:r>
              <a:rPr lang="en-US" dirty="0">
                <a:latin typeface="Segoe Sans"/>
                <a:ea typeface="+mn-lt"/>
                <a:cs typeface="+mn-lt"/>
              </a:rPr>
              <a:t> The platform enables effortless order creation and provides real-time tracking to ensure timely execution and delivery.</a:t>
            </a:r>
          </a:p>
          <a:p>
            <a:endParaRPr lang="en-US" dirty="0"/>
          </a:p>
          <a:p>
            <a:r>
              <a:rPr lang="en-US" b="1" dirty="0">
                <a:latin typeface="Segoe Sans"/>
                <a:ea typeface="+mn-lt"/>
                <a:cs typeface="+mn-lt"/>
              </a:rPr>
              <a:t>Smart Inventory Control:</a:t>
            </a:r>
            <a:br>
              <a:rPr lang="en-US" dirty="0">
                <a:latin typeface="Segoe Sans"/>
                <a:ea typeface="+mn-lt"/>
                <a:cs typeface="+mn-lt"/>
              </a:rPr>
            </a:br>
            <a:r>
              <a:rPr lang="en-US" dirty="0">
                <a:latin typeface="Segoe Sans"/>
                <a:ea typeface="+mn-lt"/>
                <a:cs typeface="+mn-lt"/>
              </a:rPr>
              <a:t> With real-time inventory monitoring and alerts, businesses can prevent stockouts and overstock situations, maintaining optimal inventory levels.</a:t>
            </a:r>
          </a:p>
          <a:p>
            <a:endParaRPr lang="en-US" dirty="0"/>
          </a:p>
          <a:p>
            <a:r>
              <a:rPr lang="en-US" b="1" dirty="0">
                <a:latin typeface="Segoe Sans"/>
                <a:ea typeface="+mn-lt"/>
                <a:cs typeface="+mn-lt"/>
              </a:rPr>
              <a:t>Role-Based Dashboards:</a:t>
            </a:r>
            <a:br>
              <a:rPr lang="en-US" dirty="0">
                <a:latin typeface="Segoe Sans"/>
                <a:ea typeface="+mn-lt"/>
                <a:cs typeface="+mn-lt"/>
              </a:rPr>
            </a:br>
            <a:r>
              <a:rPr lang="en-US" dirty="0">
                <a:latin typeface="Segoe Sans"/>
                <a:ea typeface="+mn-lt"/>
                <a:cs typeface="+mn-lt"/>
              </a:rPr>
              <a:t> Customizable dashboards designed for different roles improve collaboration, coordination, and data-driven decision-making across teams.</a:t>
            </a:r>
            <a:endParaRPr lang="en-US" dirty="0"/>
          </a:p>
          <a:p>
            <a:pPr algn="l">
              <a:buNone/>
            </a:pPr>
            <a:endParaRPr lang="en-US" b="1" i="0" dirty="0">
              <a:effectLst/>
              <a:latin typeface="Segoe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507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AC47-B4D0-F907-A746-FD6260234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b="1" dirty="0">
                <a:solidFill>
                  <a:srgbClr val="DE1B3E"/>
                </a:solidFill>
              </a:rPr>
              <a:t>User Roles in </a:t>
            </a:r>
            <a:r>
              <a:rPr lang="en-US" sz="3100" b="1" err="1">
                <a:solidFill>
                  <a:srgbClr val="DE1B3E"/>
                </a:solidFill>
              </a:rPr>
              <a:t>OrderKraft</a:t>
            </a:r>
            <a:br>
              <a:rPr lang="en-US" sz="3100" b="1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9B6C6-CE18-FDBA-5D39-9A89B955C7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273" y="1692296"/>
            <a:ext cx="10434056" cy="3909851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Admin: Controls user roles, system setup, and accesses all reports. 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Supplier: Provides materials, updates delivery status, and is evaluated on performance. 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Procurement Officer: Creates purchase orders, tracks order status, manages suppliers and payments. </a:t>
            </a:r>
            <a:endParaRPr lang="en-US" sz="2000">
              <a:ea typeface="+mn-lt"/>
              <a:cs typeface="+mn-lt"/>
            </a:endParaRP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Inventory Manager: Manages stock levels, receives alerts, and generates inventory reports. </a:t>
            </a:r>
            <a:endParaRPr lang="en-US" sz="2000">
              <a:ea typeface="+mn-lt"/>
              <a:cs typeface="+mn-lt"/>
            </a:endParaRP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Production Manager: Plans and tracks production tasks, ensures deadlines are met. </a:t>
            </a:r>
            <a:endParaRPr lang="en-US" sz="2000" dirty="0"/>
          </a:p>
          <a:p>
            <a:pPr marL="255905" indent="-255905"/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55A32-4FFC-CC1C-B3DD-A0076075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0735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32767-6D1B-8479-54C0-8CD221BF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352323"/>
            <a:ext cx="11735396" cy="467146"/>
          </a:xfrm>
        </p:spPr>
        <p:txBody>
          <a:bodyPr/>
          <a:lstStyle/>
          <a:p>
            <a:r>
              <a:rPr lang="en-US" sz="3100" b="1" dirty="0">
                <a:solidFill>
                  <a:srgbClr val="DE1B3E"/>
                </a:solidFill>
              </a:rPr>
              <a:t>Key Features</a:t>
            </a:r>
            <a:br>
              <a:rPr lang="en-US" sz="3100" b="1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9B94B-2B6E-3F9F-B725-E008179E20F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33091" y="941129"/>
            <a:ext cx="11829568" cy="5335073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Order Management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Create, update, and track orders seamlessly to keep operations organized and efficient.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Inventory Tracking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Monitor stock levels in real time and receive alerts to prevent shortages or overstock situations.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Supplier Management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Add and manage suppliers, track their performance, and handle contracts effectively.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Production Scheduling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Plan and oversee production tasks to ensure timelines are met.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Shipping Integration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Connect with delivery partners for streamlined shipment tracking and faster order fulfillment.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Reports &amp; Dashboards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Gain actionable insights into orders, inventory, and performance through interactive reports and visual dashboards.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Role-Based Access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Ensure data security by allowing each user to access only the information relevant to their role.</a:t>
            </a:r>
            <a:endParaRPr lang="en-US" dirty="0"/>
          </a:p>
          <a:p>
            <a:pPr marL="255905" indent="-255905"/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2EFF3-079A-126A-4E39-E8FBC77D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574378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A37E-EAC1-16EE-2FF9-B87585F7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dirty="0">
                <a:solidFill>
                  <a:srgbClr val="DE1B3E"/>
                </a:solidFill>
                <a:ea typeface="+mj-lt"/>
                <a:cs typeface="+mj-lt"/>
              </a:rPr>
              <a:t>Tools &amp; Technologies</a:t>
            </a:r>
            <a:br>
              <a:rPr lang="en-US" sz="3100" b="1" dirty="0"/>
            </a:br>
            <a:endParaRPr lang="en-US" sz="31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A80CB-82CB-9946-F226-170CBC5CA1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440370"/>
            <a:ext cx="6990539" cy="2478487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b="1" dirty="0"/>
              <a:t>Frontend</a:t>
            </a:r>
            <a:r>
              <a:rPr lang="en-US" sz="2000" dirty="0"/>
              <a:t>: Angular version - </a:t>
            </a:r>
            <a:r>
              <a:rPr lang="en-US" sz="1800" b="1" dirty="0"/>
              <a:t>20.1.3</a:t>
            </a:r>
            <a:endParaRPr lang="en-US" sz="1800" dirty="0"/>
          </a:p>
          <a:p>
            <a:pPr marL="255905" indent="-255905"/>
            <a:r>
              <a:rPr lang="en-US" sz="2000" b="1" dirty="0"/>
              <a:t>Backend</a:t>
            </a:r>
            <a:r>
              <a:rPr lang="en-US" sz="2000" dirty="0"/>
              <a:t>: JDK </a:t>
            </a:r>
            <a:r>
              <a:rPr lang="en-US" sz="1800" b="1" dirty="0"/>
              <a:t>17</a:t>
            </a:r>
            <a:r>
              <a:rPr lang="en-US" sz="2000" b="1" dirty="0"/>
              <a:t> &amp; </a:t>
            </a:r>
            <a:r>
              <a:rPr lang="en-US" sz="2000" dirty="0"/>
              <a:t>Spring Tool Suite (STS) version -  </a:t>
            </a:r>
            <a:r>
              <a:rPr lang="en-US" sz="1800" b="1" dirty="0"/>
              <a:t>3.2</a:t>
            </a:r>
          </a:p>
          <a:p>
            <a:pPr marL="255905" indent="-255905"/>
            <a:r>
              <a:rPr lang="en-US" sz="2000" b="1" dirty="0"/>
              <a:t>Database: </a:t>
            </a:r>
            <a:r>
              <a:rPr lang="en-US" sz="2000" dirty="0"/>
              <a:t>Oracle version - </a:t>
            </a:r>
            <a:r>
              <a:rPr lang="en-US" sz="1800" b="1" dirty="0"/>
              <a:t>11</a:t>
            </a:r>
          </a:p>
          <a:p>
            <a:pPr marL="255905" indent="-255905"/>
            <a:r>
              <a:rPr lang="en-US" b="1" dirty="0"/>
              <a:t>Testing</a:t>
            </a:r>
            <a:r>
              <a:rPr lang="en-US" dirty="0"/>
              <a:t>: SOAP UI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sz="1100" dirty="0">
              <a:latin typeface="Calibri"/>
              <a:ea typeface="Calibri"/>
              <a:cs typeface="Calibri"/>
            </a:endParaRP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39334-ABAA-C340-5AE5-7AEB1358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10623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4011-7866-047F-298E-EC425EB6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596" y="2401964"/>
            <a:ext cx="2883755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1.1</a:t>
            </a:r>
            <a:r>
              <a:rPr lang="en-US" sz="3100" b="1" dirty="0">
                <a:solidFill>
                  <a:srgbClr val="DE1B3E"/>
                </a:solidFill>
              </a:rPr>
              <a:t>Registration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69C6D-233A-CFF7-76DB-BF312A1C1A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b="1" dirty="0"/>
              <a:t>Use Case 1: User Authentication and Role Management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0B219-8B64-2FB5-DB97-BF907712CB3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903" y="3144068"/>
            <a:ext cx="6664788" cy="2515202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Admin registers new users, such as Admin, Inventory Managers, Procurement Officers, Suppliers, Production Managers.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 Roles are defined and assigned during the registration process to determine user permissions.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 A verification email is automatically sent to confirm the user's identity and activate their account.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9C909-F2F4-77D6-9B44-66B6CDCE8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7E4D27-8E29-6A34-1594-A2A41C3D3175}"/>
              </a:ext>
            </a:extLst>
          </p:cNvPr>
          <p:cNvSpPr txBox="1">
            <a:spLocks/>
          </p:cNvSpPr>
          <p:nvPr/>
        </p:nvSpPr>
        <p:spPr>
          <a:xfrm>
            <a:off x="388273" y="963405"/>
            <a:ext cx="1776429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7E4C0A-BDC7-55A0-CB5D-8673AAC5322B}"/>
              </a:ext>
            </a:extLst>
          </p:cNvPr>
          <p:cNvSpPr txBox="1">
            <a:spLocks/>
          </p:cNvSpPr>
          <p:nvPr/>
        </p:nvSpPr>
        <p:spPr>
          <a:xfrm>
            <a:off x="228066" y="831858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FE36161-DC32-3219-6705-F98758ADD301}"/>
              </a:ext>
            </a:extLst>
          </p:cNvPr>
          <p:cNvSpPr txBox="1">
            <a:spLocks/>
          </p:cNvSpPr>
          <p:nvPr/>
        </p:nvSpPr>
        <p:spPr>
          <a:xfrm>
            <a:off x="388273" y="977878"/>
            <a:ext cx="6665670" cy="1124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DE1B3E"/>
                </a:solidFill>
              </a:rPr>
              <a:t>Purpose:</a:t>
            </a:r>
          </a:p>
          <a:p>
            <a:r>
              <a:rPr lang="en-US" sz="2000" dirty="0">
                <a:solidFill>
                  <a:schemeClr val="tx1"/>
                </a:solidFill>
                <a:ea typeface="+mj-lt"/>
                <a:cs typeface="+mj-lt"/>
              </a:rPr>
              <a:t>To ensure secure user onboarding, manage login credentials, assign roles, and control access to different system functionalities.</a:t>
            </a:r>
            <a:endParaRPr lang="en-US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C4368C0-8BC4-9280-8B04-381864D780BF}"/>
              </a:ext>
            </a:extLst>
          </p:cNvPr>
          <p:cNvSpPr txBox="1">
            <a:spLocks/>
          </p:cNvSpPr>
          <p:nvPr/>
        </p:nvSpPr>
        <p:spPr>
          <a:xfrm>
            <a:off x="388273" y="968268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7A1F0E-A225-9DD7-1707-1B668BFAD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817" y="840827"/>
            <a:ext cx="4236919" cy="544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703C-5043-7B86-FCC1-15BDCB2B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1.2</a:t>
            </a:r>
            <a:r>
              <a:rPr lang="en-US" sz="3100" b="1" dirty="0">
                <a:solidFill>
                  <a:srgbClr val="DE1B3E"/>
                </a:solidFill>
              </a:rPr>
              <a:t> Secure Login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42B3E-9A0B-E963-A1E2-4E38FC4E77C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440370"/>
            <a:ext cx="5466881" cy="3211841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Users access the system by logging in with their username and password.</a:t>
            </a:r>
            <a:endParaRPr lang="en-US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Once authenticated, a session is created and managed by the backend to maintain secure and continuous access.</a:t>
            </a:r>
          </a:p>
          <a:p>
            <a:pPr marL="255905" indent="-255905"/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B07FC-96E0-F432-5BC1-2A65B33F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pic>
        <p:nvPicPr>
          <p:cNvPr id="3" name="Picture 2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80E17E62-B8A9-7F21-B54A-201C7FAC0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139" y="723140"/>
            <a:ext cx="4413113" cy="556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088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9D1C9-3D1F-178C-8816-2B2F5294626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964508"/>
            <a:ext cx="5345808" cy="4579236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The Admin assigns roles to users and can update them as needed.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System permissions are automatically applied based on the assigned role, ensuring secure and appropriate access.</a:t>
            </a:r>
          </a:p>
          <a:p>
            <a:pPr marL="255905" indent="-255905"/>
            <a:endParaRPr lang="en-US" sz="2000" dirty="0"/>
          </a:p>
          <a:p>
            <a:pPr marL="255905" indent="-255905"/>
            <a:r>
              <a:rPr lang="en-US" sz="2000" b="1" dirty="0">
                <a:ea typeface="+mn-lt"/>
                <a:cs typeface="+mn-lt"/>
              </a:rPr>
              <a:t>Action Flow: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Admin selects a role.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system automatically applies the correct permissions for that role.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Changes are saved and reflected immediately in the user’s access level.</a:t>
            </a:r>
            <a:endParaRPr lang="en-US" dirty="0"/>
          </a:p>
          <a:p>
            <a:pPr marL="255905" indent="-255905"/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7E00B-2E42-38D3-964B-3DAF9518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9ECD07-5365-15B9-3250-CD2093217365}"/>
              </a:ext>
            </a:extLst>
          </p:cNvPr>
          <p:cNvSpPr txBox="1">
            <a:spLocks/>
          </p:cNvSpPr>
          <p:nvPr/>
        </p:nvSpPr>
        <p:spPr>
          <a:xfrm>
            <a:off x="228066" y="272307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solidFill>
                  <a:srgbClr val="DE1B3E"/>
                </a:solidFill>
              </a:rPr>
              <a:t>1.3</a:t>
            </a:r>
            <a:r>
              <a:rPr lang="en-US" sz="3100" b="1" dirty="0">
                <a:solidFill>
                  <a:srgbClr val="DE1B3E"/>
                </a:solidFill>
              </a:rPr>
              <a:t> Role Assignment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ADF5DA0-8ED1-36AD-2F01-EF1829032C0E}"/>
              </a:ext>
            </a:extLst>
          </p:cNvPr>
          <p:cNvSpPr txBox="1">
            <a:spLocks/>
          </p:cNvSpPr>
          <p:nvPr/>
        </p:nvSpPr>
        <p:spPr>
          <a:xfrm>
            <a:off x="388273" y="3230168"/>
            <a:ext cx="5174358" cy="8549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67" indent="-256067" algn="l" defTabSz="1016190" rtl="0" eaLnBrk="1" latinLnBrk="0" hangingPunct="1">
              <a:lnSpc>
                <a:spcPct val="107000"/>
              </a:lnSpc>
              <a:spcBef>
                <a:spcPts val="556"/>
              </a:spcBef>
              <a:buFont typeface="Wingdings" panose="05000000000000000000" pitchFamily="2" charset="2"/>
              <a:buChar char="§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4199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2331" indent="-256067" algn="l" defTabSz="1016190" rtl="0" eaLnBrk="1" latinLnBrk="0" hangingPunct="1">
              <a:lnSpc>
                <a:spcPct val="102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5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AA3C291-340D-C469-A658-672A55C03D68}"/>
              </a:ext>
            </a:extLst>
          </p:cNvPr>
          <p:cNvSpPr txBox="1">
            <a:spLocks/>
          </p:cNvSpPr>
          <p:nvPr/>
        </p:nvSpPr>
        <p:spPr>
          <a:xfrm>
            <a:off x="388273" y="3219756"/>
            <a:ext cx="5174358" cy="8549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67" indent="-256067" algn="l" defTabSz="1016190" rtl="0" eaLnBrk="1" latinLnBrk="0" hangingPunct="1">
              <a:lnSpc>
                <a:spcPct val="107000"/>
              </a:lnSpc>
              <a:spcBef>
                <a:spcPts val="556"/>
              </a:spcBef>
              <a:buFont typeface="Wingdings" panose="05000000000000000000" pitchFamily="2" charset="2"/>
              <a:buChar char="§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4199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2331" indent="-256067" algn="l" defTabSz="1016190" rtl="0" eaLnBrk="1" latinLnBrk="0" hangingPunct="1">
              <a:lnSpc>
                <a:spcPct val="102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5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E300D8-1879-3782-56BF-86F45969F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563" y="804863"/>
            <a:ext cx="53435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00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7F43-5193-FD9A-97E0-5960983B3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384519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1.4</a:t>
            </a:r>
            <a:r>
              <a:rPr lang="en-US" sz="3100" b="1" dirty="0">
                <a:solidFill>
                  <a:srgbClr val="DE1B3E"/>
                </a:solidFill>
              </a:rPr>
              <a:t> Password Reset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6D349-5B60-9EE4-AF2E-E4E00B6E6D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931084"/>
            <a:ext cx="7286436" cy="2276188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Users can select the "Forgot Password" option to reset their password.</a:t>
            </a:r>
            <a:endParaRPr lang="en-US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A one-time password (OTP) is sent to the user’s registered email for verification.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After verifying the OTP, users can create a new password.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new password must follow the system’s security policy.</a:t>
            </a:r>
            <a:endParaRPr lang="en-US" dirty="0"/>
          </a:p>
          <a:p>
            <a:pPr marL="255905" indent="-255905"/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64E55-DA23-6786-5C6B-3ED53E91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pic>
        <p:nvPicPr>
          <p:cNvPr id="6" name="Picture 5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DC433529-9430-B7FD-2424-0D2CB3EA3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8" y="3205163"/>
            <a:ext cx="5124450" cy="2809875"/>
          </a:xfrm>
          <a:prstGeom prst="rect">
            <a:avLst/>
          </a:prstGeom>
        </p:spPr>
      </p:pic>
      <p:pic>
        <p:nvPicPr>
          <p:cNvPr id="8" name="Picture 7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F4A2DCB4-D2A4-8105-584E-7B7D0ADEA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463" y="690563"/>
            <a:ext cx="431482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97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C706-9128-24A3-B1BC-F26AE87E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488362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1.5 </a:t>
            </a:r>
            <a:r>
              <a:rPr lang="en-US" sz="3100" b="1" dirty="0">
                <a:solidFill>
                  <a:srgbClr val="DE1B3E"/>
                </a:solidFill>
              </a:rPr>
              <a:t>Password Policy Enforcement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81D75-9CDA-F790-1EC3-A950F2B8EF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440370"/>
            <a:ext cx="11735396" cy="1615346"/>
          </a:xfrm>
        </p:spPr>
        <p:txBody>
          <a:bodyPr/>
          <a:lstStyle/>
          <a:p>
            <a:r>
              <a:rPr lang="en-US" dirty="0"/>
              <a:t>Minimum 8 characters, at least 1 uppercase &amp; 1 number.</a:t>
            </a:r>
          </a:p>
          <a:p>
            <a:r>
              <a:rPr lang="en-US" dirty="0"/>
              <a:t>Real-time validation feedback during input.</a:t>
            </a:r>
          </a:p>
          <a:p>
            <a:r>
              <a:rPr lang="en-US" dirty="0"/>
              <a:t>Prevents reuse of old passwords.</a:t>
            </a:r>
          </a:p>
          <a:p>
            <a:r>
              <a:rPr lang="en-US" dirty="0"/>
              <a:t>Configurable rules for future updates.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AE88F-87B3-65B4-A910-DB435E45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077014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3D8B-5ADB-BB13-CA57-DCABF34A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316968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1.6 </a:t>
            </a:r>
            <a:r>
              <a:rPr lang="en-US" sz="3100" b="1" dirty="0">
                <a:solidFill>
                  <a:srgbClr val="DE1B3E"/>
                </a:solidFill>
              </a:rPr>
              <a:t>Account Lockout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A8A2C-C8B4-0A8A-4173-76BDA44C0EB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072394"/>
            <a:ext cx="11735396" cy="1705530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The account is locked after 5 incorrect login attempts.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user receives an email alert when their account is locked.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Admin can unlock the account manually, or it can unlock automatically after a set cooldown period.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66AE4-7579-7F9E-2936-99541E7A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747017-102E-FD42-320A-4BEE51D2890B}"/>
              </a:ext>
            </a:extLst>
          </p:cNvPr>
          <p:cNvSpPr txBox="1">
            <a:spLocks/>
          </p:cNvSpPr>
          <p:nvPr/>
        </p:nvSpPr>
        <p:spPr>
          <a:xfrm>
            <a:off x="388273" y="3101239"/>
            <a:ext cx="11735396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1619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112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solidFill>
                  <a:srgbClr val="DE1B3E"/>
                </a:solidFill>
              </a:rPr>
              <a:t>1.7</a:t>
            </a:r>
            <a:r>
              <a:rPr lang="en-US" sz="3100" b="1" dirty="0">
                <a:solidFill>
                  <a:srgbClr val="DE1B3E"/>
                </a:solidFill>
              </a:rPr>
              <a:t> Session Timeout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5294FD3-940F-2C9C-EE71-36D560805EDE}"/>
              </a:ext>
            </a:extLst>
          </p:cNvPr>
          <p:cNvSpPr txBox="1">
            <a:spLocks/>
          </p:cNvSpPr>
          <p:nvPr/>
        </p:nvSpPr>
        <p:spPr>
          <a:xfrm>
            <a:off x="388273" y="3856665"/>
            <a:ext cx="11735396" cy="17055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56067" indent="-256067" algn="l" defTabSz="1016190" rtl="0" eaLnBrk="1" latinLnBrk="0" hangingPunct="1">
              <a:lnSpc>
                <a:spcPct val="107000"/>
              </a:lnSpc>
              <a:spcBef>
                <a:spcPts val="556"/>
              </a:spcBef>
              <a:buFont typeface="Wingdings" panose="05000000000000000000" pitchFamily="2" charset="2"/>
              <a:buChar char="§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4199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2331" indent="-256067" algn="l" defTabSz="1016190" rtl="0" eaLnBrk="1" latinLnBrk="0" hangingPunct="1">
              <a:lnSpc>
                <a:spcPct val="102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5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5905" indent="-255905"/>
            <a:r>
              <a:rPr lang="en-US" sz="2000" dirty="0">
                <a:ea typeface="+mn-lt"/>
                <a:cs typeface="+mn-lt"/>
              </a:rPr>
              <a:t>Users are automatically logged out after 15 minutes of no activity.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Session data is cleared to keep accounts secure.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A warning message appears before the logout happens.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This feature works for all user roles.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758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035C-8692-4126-4735-9FC5D7C4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372945"/>
            <a:ext cx="11735396" cy="432111"/>
          </a:xfrm>
        </p:spPr>
        <p:txBody>
          <a:bodyPr/>
          <a:lstStyle/>
          <a:p>
            <a:r>
              <a:rPr lang="en-US" sz="3100">
                <a:solidFill>
                  <a:srgbClr val="DE1B3E"/>
                </a:solidFill>
              </a:rPr>
              <a:t>1.8</a:t>
            </a:r>
            <a:r>
              <a:rPr lang="en-US" sz="3100" b="1">
                <a:solidFill>
                  <a:srgbClr val="DE1B3E"/>
                </a:solidFill>
              </a:rPr>
              <a:t> User Profile Update</a:t>
            </a:r>
            <a:endParaRPr lang="en-US" sz="310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A8898-EE58-8E50-7088-C904A0B5017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053344"/>
            <a:ext cx="5302708" cy="4164645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Users can edit personal information like phone number and address.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All changes are checked for accuracy before saving.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Sensitive changes, like updating an email address, may need verification.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system keeps a record of all profile updates.</a:t>
            </a:r>
            <a:endParaRPr lang="en-US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9CA93-D74A-4038-7B8F-FC63652D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12</a:t>
            </a:fld>
            <a:endParaRPr lang="en-US" noProof="1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42B0BB-C33C-9880-9FB6-A95B6AD7E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023" y="375272"/>
            <a:ext cx="5863258" cy="566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36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5950-A74D-8921-F6D9-6A5EA416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894516"/>
            <a:ext cx="11631142" cy="1534918"/>
          </a:xfrm>
        </p:spPr>
        <p:txBody>
          <a:bodyPr/>
          <a:lstStyle/>
          <a:p>
            <a:r>
              <a:rPr lang="en-US" sz="2000" b="1" dirty="0">
                <a:solidFill>
                  <a:srgbClr val="DE1B3E"/>
                </a:solidFill>
              </a:rPr>
              <a:t>Purpose:</a:t>
            </a:r>
            <a:br>
              <a:rPr lang="en-US" sz="2000" b="1" dirty="0">
                <a:solidFill>
                  <a:srgbClr val="DE1B3E"/>
                </a:solidFill>
              </a:rPr>
            </a:br>
            <a:br>
              <a:rPr lang="en-US" sz="2000" b="1" dirty="0"/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To help users, especially Procurement Officers, easily create, update, track, and cancel orders for smooth and efficient order processing.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A501D-3FD9-BD9A-CF1D-D0204C9C7F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066" y="274666"/>
            <a:ext cx="11735396" cy="432111"/>
          </a:xfrm>
        </p:spPr>
        <p:txBody>
          <a:bodyPr/>
          <a:lstStyle/>
          <a:p>
            <a:r>
              <a:rPr lang="en-US" b="1" dirty="0"/>
              <a:t>Use Case 2: Order Creation and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9CF4F-B304-E58C-0CF1-3464C934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13</a:t>
            </a:fld>
            <a:endParaRPr lang="en-US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72CBB2-FBB8-5CC0-84D5-3B60CB86DF12}"/>
              </a:ext>
            </a:extLst>
          </p:cNvPr>
          <p:cNvSpPr txBox="1"/>
          <p:nvPr/>
        </p:nvSpPr>
        <p:spPr>
          <a:xfrm>
            <a:off x="3846545" y="5701204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Procurement Officer Dashboard</a:t>
            </a:r>
          </a:p>
        </p:txBody>
      </p:sp>
    </p:spTree>
    <p:extLst>
      <p:ext uri="{BB962C8B-B14F-4D97-AF65-F5344CB8AC3E}">
        <p14:creationId xmlns:p14="http://schemas.microsoft.com/office/powerpoint/2010/main" val="4039983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9EFFE-A590-2267-CEF3-1448270B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302606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1.1 </a:t>
            </a:r>
            <a:r>
              <a:rPr lang="en-US" sz="3100" b="1" dirty="0">
                <a:solidFill>
                  <a:srgbClr val="DE1B3E"/>
                </a:solidFill>
              </a:rPr>
              <a:t>Create Order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8D721-34DF-B81A-421B-F3FDBB33CA6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20591" y="3256280"/>
            <a:ext cx="6038412" cy="1719925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Procurement Officer enters item and supplier information.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System validates the details and saves the order.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  <a:p>
            <a:pPr marL="255905" indent="-255905"/>
            <a:endParaRPr lang="en-US" dirty="0"/>
          </a:p>
          <a:p>
            <a:pPr marL="255905" indent="-255905"/>
            <a:endParaRPr lang="en-US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D8FFF-6460-E2CD-98A4-E7CD3922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14</a:t>
            </a:fld>
            <a:endParaRPr lang="en-US" noProof="1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5A5BD2B-15CA-5D5F-5376-6E1147575660}"/>
              </a:ext>
            </a:extLst>
          </p:cNvPr>
          <p:cNvSpPr txBox="1">
            <a:spLocks/>
          </p:cNvSpPr>
          <p:nvPr/>
        </p:nvSpPr>
        <p:spPr>
          <a:xfrm>
            <a:off x="481579" y="3638958"/>
            <a:ext cx="4222636" cy="11103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67" indent="-256067" algn="l" defTabSz="1016190" rtl="0" eaLnBrk="1" latinLnBrk="0" hangingPunct="1">
              <a:lnSpc>
                <a:spcPct val="107000"/>
              </a:lnSpc>
              <a:spcBef>
                <a:spcPts val="556"/>
              </a:spcBef>
              <a:buFont typeface="Wingdings" panose="05000000000000000000" pitchFamily="2" charset="2"/>
              <a:buChar char="§"/>
              <a:defRPr sz="20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4199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2331" indent="-256067" algn="l" defTabSz="1016190" rtl="0" eaLnBrk="1" latinLnBrk="0" hangingPunct="1">
              <a:lnSpc>
                <a:spcPct val="102000"/>
              </a:lnSpc>
              <a:spcBef>
                <a:spcPts val="556"/>
              </a:spcBef>
              <a:buFont typeface="Symbol" panose="05050102010706020507" pitchFamily="18" charset="2"/>
              <a:buChar char="-"/>
              <a:defRPr sz="155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80463" indent="-256067" algn="l" defTabSz="1016190" rtl="0" eaLnBrk="1" latinLnBrk="0" hangingPunct="1">
              <a:lnSpc>
                <a:spcPct val="103000"/>
              </a:lnSpc>
              <a:spcBef>
                <a:spcPts val="556"/>
              </a:spcBef>
              <a:buFont typeface="Bosch Office Sans" pitchFamily="2" charset="0"/>
              <a:buChar char="‒"/>
              <a:defRPr sz="144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7524C6BD-AF24-4BDF-A7E0-F426A2683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8" y="838200"/>
            <a:ext cx="6715125" cy="2000250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DCE4ADB-88FE-3196-9FBD-AABEEAFCF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88" y="304800"/>
            <a:ext cx="388620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59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A5BC-1B6C-582A-3BA4-92A0F973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" y="393613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1.2 </a:t>
            </a:r>
            <a:r>
              <a:rPr lang="en-US" sz="3100" b="1" dirty="0">
                <a:solidFill>
                  <a:srgbClr val="DE1B3E"/>
                </a:solidFill>
              </a:rPr>
              <a:t>View Order History</a:t>
            </a:r>
            <a:br>
              <a:rPr lang="en-US" sz="3100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F7575-ACED-1329-91B6-012A64F1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15</a:t>
            </a:fld>
            <a:endParaRPr lang="en-US" noProof="1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811F98A-A8E7-CC08-CBF3-73FB1FCB575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18541" y="1104467"/>
            <a:ext cx="10670089" cy="1125549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Users can see previous orders and filter them by date, status, or supplier.</a:t>
            </a:r>
            <a:endParaRPr lang="en-US" dirty="0"/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Helps users quickly find and track past orders.</a:t>
            </a:r>
            <a:endParaRPr lang="en-US" dirty="0">
              <a:ea typeface="+mn-lt"/>
              <a:cs typeface="+mn-lt"/>
            </a:endParaRP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DB5851-B8D0-AF7F-0BC0-9135244CD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40017"/>
            <a:ext cx="10658475" cy="326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61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595F-1B7A-4278-F598-71FCEC56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123344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1.3</a:t>
            </a:r>
            <a:r>
              <a:rPr lang="en-US" sz="3100" b="1" dirty="0">
                <a:solidFill>
                  <a:srgbClr val="DE1B3E"/>
                </a:solidFill>
              </a:rPr>
              <a:t> Update Order Details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079DA-CEC5-C7D9-E7E0-ADDCB2914E1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942932"/>
            <a:ext cx="6487121" cy="1351038"/>
          </a:xfrm>
        </p:spPr>
        <p:txBody>
          <a:bodyPr vert="horz" lIns="0" tIns="0" rIns="0" bIns="0" rtlCol="0" anchor="t">
            <a:no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dirty="0"/>
              <a:t>Users can change the quantity, delivery date, or other order details.</a:t>
            </a:r>
          </a:p>
          <a:p>
            <a:pPr marL="228600" indent="-228600">
              <a:buFont typeface=""/>
              <a:buChar char="•"/>
            </a:pPr>
            <a:r>
              <a:rPr lang="en-US" sz="2000" dirty="0"/>
              <a:t>The system checks the updates and saves them.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691F0-F151-727E-493F-1258A34A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16</a:t>
            </a:fld>
            <a:endParaRPr lang="en-US" noProof="1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AE0CB41-D5FD-2276-8384-416EAEE39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333375"/>
            <a:ext cx="4419600" cy="5705475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8F3A7271-0822-6BC7-7B64-9EABF3DF2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749" y="2527990"/>
            <a:ext cx="20669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38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01E8-4352-243A-9900-7ADB7995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71" y="488362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1.4 </a:t>
            </a:r>
            <a:r>
              <a:rPr lang="en-US" sz="3100" b="1" dirty="0">
                <a:solidFill>
                  <a:srgbClr val="DE1B3E"/>
                </a:solidFill>
              </a:rPr>
              <a:t>Track Order Status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B440A-3A92-A64A-9B4A-766C520BDC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1215269"/>
            <a:ext cx="6461983" cy="1402551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Suppliers or systems send real-time order updates.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Users can check the current status and expected delivery time.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A8F7C-E62E-68E3-1462-6214E470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17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18936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2CF0-BC12-77A6-FE87-83B415FED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272307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1.5</a:t>
            </a:r>
            <a:r>
              <a:rPr lang="en-US" sz="3100" b="1" dirty="0">
                <a:solidFill>
                  <a:srgbClr val="DE1B3E"/>
                </a:solidFill>
              </a:rPr>
              <a:t> Cancel Order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32763-E6B4-8339-632A-49134EFF025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885393"/>
            <a:ext cx="5867934" cy="2253775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Users can cancel orders that are no longer required.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system changes the order status and sends notifications to stakeholders.</a:t>
            </a:r>
            <a:endParaRPr lang="en-US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379BB-E4CE-CE5C-5EF4-33D74F12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987850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D562-A426-BE33-B325-083E4A1B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272307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1.6 </a:t>
            </a:r>
            <a:r>
              <a:rPr lang="en-US" sz="3100" b="1" dirty="0">
                <a:solidFill>
                  <a:srgbClr val="DE1B3E"/>
                </a:solidFill>
              </a:rPr>
              <a:t>Order Payment Integration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F4039-270F-1338-694C-E29FC732304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957318"/>
            <a:ext cx="11427640" cy="952265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>
                <a:ea typeface="+mn-lt"/>
                <a:cs typeface="+mn-lt"/>
              </a:rPr>
              <a:t>The system connects to a payment gateway to handle payments.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Order status is updated based on whether the payment succeeds or fails.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41F53-2A01-A37E-98D4-064B7644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683299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46E3-023F-DDF0-89AB-DF873AA1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272307"/>
            <a:ext cx="11735396" cy="432111"/>
          </a:xfrm>
        </p:spPr>
        <p:txBody>
          <a:bodyPr/>
          <a:lstStyle/>
          <a:p>
            <a:r>
              <a:rPr lang="en-US" sz="3100" dirty="0">
                <a:solidFill>
                  <a:srgbClr val="DE1B3E"/>
                </a:solidFill>
              </a:rPr>
              <a:t>1.7 </a:t>
            </a:r>
            <a:r>
              <a:rPr lang="en-US" sz="3100" b="1" dirty="0">
                <a:solidFill>
                  <a:srgbClr val="DE1B3E"/>
                </a:solidFill>
              </a:rPr>
              <a:t>Invoice Generation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2421B-63DA-E777-921F-3CB2157725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889613"/>
            <a:ext cx="6900522" cy="1949752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Admin can generate invoices for completed and paid orders.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Invoices can be downloaded or printed as needed.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98969-FF62-C0B3-5E3B-3DC47A3A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20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3003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1DE09-5AFB-D439-6F25-B0C09A5A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66" y="272307"/>
            <a:ext cx="11735396" cy="432111"/>
          </a:xfrm>
        </p:spPr>
        <p:txBody>
          <a:bodyPr/>
          <a:lstStyle/>
          <a:p>
            <a:r>
              <a:rPr lang="en-US" sz="3100" b="1" dirty="0">
                <a:solidFill>
                  <a:srgbClr val="DE1B3E"/>
                </a:solidFill>
              </a:rPr>
              <a:t>1.8 Return Order</a:t>
            </a:r>
            <a:endParaRPr lang="en-US" sz="3100" dirty="0">
              <a:solidFill>
                <a:srgbClr val="DE1B3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8F033-0816-D715-0FE2-95FA72D2EDD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066" y="967424"/>
            <a:ext cx="5867934" cy="1924483"/>
          </a:xfrm>
        </p:spPr>
        <p:txBody>
          <a:bodyPr vert="horz" lIns="0" tIns="0" rIns="0" bIns="0" rtlCol="0" anchor="t">
            <a:noAutofit/>
          </a:bodyPr>
          <a:lstStyle/>
          <a:p>
            <a:pPr marL="255905" indent="-255905"/>
            <a:r>
              <a:rPr lang="en-US" sz="2000" dirty="0">
                <a:ea typeface="+mn-lt"/>
                <a:cs typeface="+mn-lt"/>
              </a:rPr>
              <a:t>Customers can request a return for defective items.</a:t>
            </a:r>
          </a:p>
          <a:p>
            <a:pPr marL="255905" indent="-255905"/>
            <a:r>
              <a:rPr lang="en-US" sz="2000" dirty="0">
                <a:ea typeface="+mn-lt"/>
                <a:cs typeface="+mn-lt"/>
              </a:rPr>
              <a:t>The system updates inventory and changes the order status.</a:t>
            </a:r>
          </a:p>
          <a:p>
            <a:pPr marL="255905" indent="-255905"/>
            <a:endParaRPr lang="en-US" sz="2000" dirty="0"/>
          </a:p>
          <a:p>
            <a:pPr marL="255905" indent="-255905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6F8DB-E8B4-C96A-EBB5-AB9747D6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548800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960C-9AE4-3E63-F445-4DDDDC3B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502" y="2019300"/>
            <a:ext cx="6202978" cy="2819400"/>
          </a:xfrm>
        </p:spPr>
        <p:txBody>
          <a:bodyPr/>
          <a:lstStyle/>
          <a:p>
            <a:r>
              <a:rPr lang="en-US" sz="7200" b="1" dirty="0">
                <a:solidFill>
                  <a:srgbClr val="DE1B3E"/>
                </a:solidFill>
              </a:rPr>
              <a:t>THANK -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C522-52C1-0604-7C0C-4482A283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5677627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BD6EC1D4-B152-4B75-85DB-48DC16B7ED8A}" vid="{233A9649-CE92-4BEC-B45F-441AA90A900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1077</Words>
  <Application>Microsoft Office PowerPoint</Application>
  <PresentationFormat>Widescreen</PresentationFormat>
  <Paragraphs>134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Aptos Display</vt:lpstr>
      <vt:lpstr>Arial</vt:lpstr>
      <vt:lpstr>Bosch Office Sans</vt:lpstr>
      <vt:lpstr>Calibri</vt:lpstr>
      <vt:lpstr>Segoe Sans</vt:lpstr>
      <vt:lpstr>Symbol</vt:lpstr>
      <vt:lpstr>Wingdings</vt:lpstr>
      <vt:lpstr>Office Theme</vt:lpstr>
      <vt:lpstr>Bosch 2024</vt:lpstr>
      <vt:lpstr>PowerPoint Presentation</vt:lpstr>
      <vt:lpstr>PowerPoint Presentation</vt:lpstr>
      <vt:lpstr>User Roles in OrderKraft </vt:lpstr>
      <vt:lpstr>Key Features </vt:lpstr>
      <vt:lpstr>Tools &amp; Technologies </vt:lpstr>
      <vt:lpstr>1.1Registration</vt:lpstr>
      <vt:lpstr>1.2 Secure Login</vt:lpstr>
      <vt:lpstr>PowerPoint Presentation</vt:lpstr>
      <vt:lpstr>1.4 Password Reset</vt:lpstr>
      <vt:lpstr>1.5 Password Policy Enforcement</vt:lpstr>
      <vt:lpstr>1.6 Account Lockout</vt:lpstr>
      <vt:lpstr>1.8 User Profile Update</vt:lpstr>
      <vt:lpstr>Purpose:  To help users, especially Procurement Officers, easily create, update, track, and cancel orders for smooth and efficient order processing. </vt:lpstr>
      <vt:lpstr>1.1 Create Order</vt:lpstr>
      <vt:lpstr>1.2 View Order History </vt:lpstr>
      <vt:lpstr>1.3 Update Order Details</vt:lpstr>
      <vt:lpstr>1.4 Track Order Status</vt:lpstr>
      <vt:lpstr>1.5 Cancel Order</vt:lpstr>
      <vt:lpstr>1.6 Order Payment Integration</vt:lpstr>
      <vt:lpstr>1.7 Invoice Generation</vt:lpstr>
      <vt:lpstr>1.8 Return Order</vt:lpstr>
      <vt:lpstr>THANK -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. (BD/DAD-DAN5)</dc:creator>
  <cp:lastModifiedBy>FIXED-TERM Lokesh Kumar Nallandhala Rukmangada (BGSW/PJ-ETA-P)</cp:lastModifiedBy>
  <cp:revision>331</cp:revision>
  <dcterms:created xsi:type="dcterms:W3CDTF">2025-09-12T06:27:05Z</dcterms:created>
  <dcterms:modified xsi:type="dcterms:W3CDTF">2025-09-15T08:50:15Z</dcterms:modified>
</cp:coreProperties>
</file>