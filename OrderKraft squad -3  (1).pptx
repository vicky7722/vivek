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6"/>
  </p:notesMasterIdLst>
  <p:sldIdLst>
    <p:sldId id="257" r:id="rId3"/>
    <p:sldId id="1271" r:id="rId4"/>
    <p:sldId id="1275" r:id="rId5"/>
    <p:sldId id="1276" r:id="rId6"/>
    <p:sldId id="1277" r:id="rId7"/>
    <p:sldId id="1278" r:id="rId8"/>
    <p:sldId id="1254" r:id="rId9"/>
    <p:sldId id="1255" r:id="rId10"/>
    <p:sldId id="1257" r:id="rId11"/>
    <p:sldId id="1269" r:id="rId12"/>
    <p:sldId id="1266" r:id="rId13"/>
    <p:sldId id="1267" r:id="rId14"/>
    <p:sldId id="1268" r:id="rId15"/>
    <p:sldId id="1256" r:id="rId16"/>
    <p:sldId id="1258" r:id="rId17"/>
    <p:sldId id="1259" r:id="rId18"/>
    <p:sldId id="1260" r:id="rId19"/>
    <p:sldId id="1261" r:id="rId20"/>
    <p:sldId id="1262" r:id="rId21"/>
    <p:sldId id="1263" r:id="rId22"/>
    <p:sldId id="1264" r:id="rId23"/>
    <p:sldId id="1265" r:id="rId24"/>
    <p:sldId id="1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1B3E"/>
    <a:srgbClr val="1EDE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8B152-2313-D6FF-8BDA-794DE84FA73C}" v="1170" dt="2025-09-15T07:14:33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94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B3B9-347B-40BA-8FE2-BC5A41D2966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CA6F6-4E56-4B87-AC66-91A06872A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8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CA6F6-4E56-4B87-AC66-91A06872A4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1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C59C-D672-170A-56FA-F4F8A0687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819A-B819-88C6-33D8-EEF933C96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A3F4-6CA8-CE04-7E58-0EC35C418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11F9-403F-1197-FA52-712D04D8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01567-9A4A-DC6C-377D-2CD3C849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8487-268E-3AA2-E0BA-AA7FCCB0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327B-A538-639A-B1B6-9E53AC65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3221-4ADD-5747-3713-F494F87C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47F4A-B9E9-68BB-2783-B3166D75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F68F2-B8F6-0411-0289-89FF7A57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7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8020-642E-F4D5-FD93-B47556DA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5AE09-97FE-9CEE-FCFD-7D5CB0CB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DE93-DCDA-8629-82F8-96249B00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D05B-1015-4A2A-D44C-81E8C385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5A9E-1C66-B886-E388-89AB815C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8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7834-C6AB-239A-BB89-950E7926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F10E-C6FA-E5AD-9C55-981C0959B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EFCAD-82D1-534A-F980-56C49C65A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DBDA-2162-3705-24FB-FFDA971A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D05A9-9ED9-5456-31B4-AB1C0108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84151-D7A9-B6FE-C3AA-AD9A9E2B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1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69F3-DB4D-2F87-E90E-C74E2EB2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147E1-2DD9-BFC1-550C-471450EF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4B19E-447F-E2F8-C966-39C23921E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0D41C-6622-B4E0-37F6-08DFF0C40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97661-C285-A65A-0B7F-2FCB0DF68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BEB9F-FC91-BB2E-9073-1083BA6A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B1341-2FA2-B462-5B27-6EA6AC5D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96F4B-1C91-1EF5-F511-D99BFED6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0493-117E-4285-BF09-8C4C1881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717CC-A3AF-91DB-01B2-D2C355BE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48ABF-7A6D-C171-3A19-CB2BBD61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D198-7AAF-418A-9FAC-CC1835A0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F47B0-6570-B5ED-C133-FE4E7FB9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72045-51D1-7355-D94F-8F61E6F1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465FA-E53C-EC76-F8A8-5786217E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9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998-1E9F-ECEF-DDCB-69E1BFCD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1E9F-CCC6-C2BC-BE19-9FE7E681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8E595-7015-B3A3-F9C9-8152FB809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DDEFB-255B-6B5F-D562-D6F4807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934B9-2178-2DEA-1905-A7C80A1C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F27B8-65C4-17E9-87AD-3B2A8DFE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37A6-FD6F-0DCB-B094-FA43FCC5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D0BB2-D1BF-0C6D-166D-E6D8AD94A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DABC-589B-132C-2F6F-3DBE39AD6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02078-18DE-FC53-7D2A-9ECC1A8A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37204-27FF-04DC-ED9D-BE72FAAE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57EB-6FCB-A9AD-1BDD-B49CBB1D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0E4E-9DCC-3D19-294D-F92984DD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28B82-0A09-2F6C-0140-F5BB98480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FBC0-CE89-BA72-33C5-D2624F34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0990-6B96-AC5C-A7EC-F628EBE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C8F6F-9C22-F0DB-1B85-7931B71A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4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D264-1E5F-95BB-E943-24880DC03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92EC0-B274-8C2B-9085-C79984F92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BEAB-AEC5-DD06-F810-5DF8A803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993F-086B-3248-D86A-D0BF27C0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8332A-4B02-3397-981D-18FDEB8C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88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06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9">
          <p15:clr>
            <a:srgbClr val="FBAE40"/>
          </p15:clr>
        </p15:guide>
        <p15:guide id="6" orient="horz" pos="34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51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9">
          <p15:clr>
            <a:srgbClr val="FBAE40"/>
          </p15:clr>
        </p15:guide>
        <p15:guide id="6" orient="horz" pos="34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6162" y="1280490"/>
            <a:ext cx="7927662" cy="2272101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656162" y="3697830"/>
            <a:ext cx="7927662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0480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49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70">
          <p15:clr>
            <a:srgbClr val="FBAE40"/>
          </p15:clr>
        </p15:guide>
        <p15:guide id="2" pos="6566">
          <p15:clr>
            <a:srgbClr val="FBAE40"/>
          </p15:clr>
        </p15:guide>
        <p15:guide id="3" orient="horz" pos="2093">
          <p15:clr>
            <a:srgbClr val="FBAE40"/>
          </p15:clr>
        </p15:guide>
        <p15:guide id="4" orient="horz" pos="2014">
          <p15:clr>
            <a:srgbClr val="FBAE40"/>
          </p15:clr>
        </p15:guide>
        <p15:guide id="5" orient="horz" pos="347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8177" y="2892850"/>
            <a:ext cx="10301466" cy="3214829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1" y="110"/>
            <a:ext cx="12192000" cy="22845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10162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7684" y="109"/>
            <a:ext cx="2453979" cy="2284587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56"/>
              </a:spcBef>
              <a:buFontTx/>
              <a:buNone/>
              <a:defRPr sz="16671" b="1" kern="0" baseline="0">
                <a:solidFill>
                  <a:schemeClr val="bg1"/>
                </a:solidFill>
              </a:defRPr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3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346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45312" y="1333760"/>
            <a:ext cx="7860876" cy="3492881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110"/>
            <a:ext cx="3044881" cy="685789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10162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6149" y="110"/>
            <a:ext cx="2453979" cy="2284587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56"/>
              </a:spcBef>
              <a:buFontTx/>
              <a:buNone/>
              <a:defRPr sz="16671" b="1" kern="0" baseline="0">
                <a:solidFill>
                  <a:schemeClr val="bg1"/>
                </a:solidFill>
              </a:defRPr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5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64">
          <p15:clr>
            <a:srgbClr val="FBAE40"/>
          </p15:clr>
        </p15:guide>
        <p15:guide id="2" pos="6524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2738">
          <p15:clr>
            <a:srgbClr val="FBAE40"/>
          </p15:clr>
        </p15:guide>
        <p15:guide id="5" pos="29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1535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23208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1535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52131" y="1152296"/>
            <a:ext cx="4201216" cy="276071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222658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34288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28065" y="3885116"/>
            <a:ext cx="11735396" cy="2268465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371979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949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orient="horz" pos="22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6097764" cy="6857763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6552231" y="456219"/>
            <a:ext cx="5108685" cy="56973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78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56">
          <p15:clr>
            <a:srgbClr val="FBAE40"/>
          </p15:clr>
        </p15:guide>
        <p15:guide id="2" pos="6609">
          <p15:clr>
            <a:srgbClr val="FBAE40"/>
          </p15:clr>
        </p15:guide>
        <p15:guide id="3" orient="horz" pos="257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pos="371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78281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750013" y="6180791"/>
            <a:ext cx="1368764" cy="562527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11">
                <a:noFill/>
              </a:defRPr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072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8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2114366" cy="6857763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750013" y="6180791"/>
            <a:ext cx="1368764" cy="562527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11">
                <a:noFill/>
              </a:defRPr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423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6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73573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0"/>
            <a:ext cx="5461580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6505883" y="1440369"/>
            <a:ext cx="5461580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214434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3225">
          <p15:clr>
            <a:srgbClr val="FBAE40"/>
          </p15:clr>
        </p15:guide>
        <p15:guide id="9" pos="368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0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35254" y="1440370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42443" y="1440369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30186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5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39702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198259" y="1439703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452" y="1439702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9138644" y="1439703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345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1731">
          <p15:clr>
            <a:srgbClr val="FBAE40"/>
          </p15:clr>
        </p15:guide>
        <p15:guide id="9" pos="1810">
          <p15:clr>
            <a:srgbClr val="FBAE40"/>
          </p15:clr>
        </p15:guide>
        <p15:guide id="10" pos="3417">
          <p15:clr>
            <a:srgbClr val="FBAE40"/>
          </p15:clr>
        </p15:guide>
        <p15:guide id="11" pos="3495">
          <p15:clr>
            <a:srgbClr val="FBAE40"/>
          </p15:clr>
        </p15:guide>
        <p15:guide id="12" pos="5098">
          <p15:clr>
            <a:srgbClr val="FBAE40"/>
          </p15:clr>
        </p15:guide>
        <p15:guide id="13" pos="51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11735396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11735396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1928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6501881" y="1440369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6501881" y="3868995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14148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3225">
          <p15:clr>
            <a:srgbClr val="FBAE40"/>
          </p15:clr>
        </p15:guide>
        <p15:guide id="11" pos="36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4335254" y="1440369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42443" y="1440369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4335254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8442443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63075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7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  <p15:guide id="12" orient="horz" pos="2113">
          <p15:clr>
            <a:srgbClr val="FBAE40"/>
          </p15:clr>
        </p15:guide>
        <p15:guide id="13" orient="horz" pos="2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198259" y="1440369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8452" y="1440371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9138644" y="1440369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3198259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8452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9138644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10257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1731">
          <p15:clr>
            <a:srgbClr val="FBAE40"/>
          </p15:clr>
        </p15:guide>
        <p15:guide id="11" pos="1810">
          <p15:clr>
            <a:srgbClr val="FBAE40"/>
          </p15:clr>
        </p15:guide>
        <p15:guide id="12" pos="3416">
          <p15:clr>
            <a:srgbClr val="FBAE40"/>
          </p15:clr>
        </p15:guide>
        <p15:guide id="13" pos="3497">
          <p15:clr>
            <a:srgbClr val="FBAE40"/>
          </p15:clr>
        </p15:guide>
        <p15:guide id="14" pos="5098">
          <p15:clr>
            <a:srgbClr val="FBAE40"/>
          </p15:clr>
        </p15:guide>
        <p15:guide id="15" pos="51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4597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64380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5B1A5-BD8D-BA5C-7B76-50560A06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3618E-8A76-BE38-84D2-0E436B71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F4BFF-A476-D5DC-5264-9C3077328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7F82-E84F-4CB7-8320-0DE111471382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DDE5-9885-0FA0-851A-7055D748C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3F7AA-1BD9-23D2-CC4D-ADF0399A5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066" y="720185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066" y="1440370"/>
            <a:ext cx="11735396" cy="4713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066" y="6297619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334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608176" y="6321626"/>
            <a:ext cx="10142935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1626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11"/>
              </a:spcAft>
              <a:buClrTx/>
              <a:buSzTx/>
              <a:buFontTx/>
              <a:buNone/>
              <a:tabLst/>
              <a:defRPr/>
            </a:pPr>
            <a:r>
              <a:rPr lang="en-US" sz="667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67" kern="0" baseline="0" noProof="1">
                <a:solidFill>
                  <a:schemeClr val="tx1"/>
                </a:solidFill>
                <a:latin typeface="+mn-lt"/>
              </a:rPr>
              <a:t> | Bosch Digital_</a:t>
            </a:r>
            <a:endParaRPr kumimoji="0" lang="en-US" sz="667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08176" y="6439323"/>
            <a:ext cx="10142935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11"/>
              </a:spcAft>
            </a:pPr>
            <a:r>
              <a:rPr lang="en-US" sz="667" kern="0" baseline="0" noProof="1">
                <a:solidFill>
                  <a:srgbClr val="B2B3B5"/>
                </a:solidFill>
                <a:latin typeface="+mn-lt"/>
              </a:rPr>
              <a:t>© Robert Bosch GmbH 2024.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907006" y="598325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1626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11"/>
              </a:spcAft>
              <a:buClrTx/>
              <a:buSzTx/>
              <a:buFontTx/>
              <a:buNone/>
              <a:tabLst/>
              <a:defRPr/>
            </a:pPr>
            <a:r>
              <a:rPr lang="en-US" sz="667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67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11"/>
              </a:spcAft>
            </a:pPr>
            <a:r>
              <a:rPr lang="en-US" sz="667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67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8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hdr="0" ftr="0" dt="0"/>
  <p:txStyles>
    <p:titleStyle>
      <a:lvl1pPr algn="l" defTabSz="1016190" rtl="0" eaLnBrk="1" latinLnBrk="0" hangingPunct="1">
        <a:lnSpc>
          <a:spcPct val="89000"/>
        </a:lnSpc>
        <a:spcBef>
          <a:spcPct val="0"/>
        </a:spcBef>
        <a:buNone/>
        <a:defRPr sz="3112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6067" indent="-256067" algn="l" defTabSz="1016190" rtl="0" eaLnBrk="1" latinLnBrk="0" hangingPunct="1">
        <a:lnSpc>
          <a:spcPct val="107000"/>
        </a:lnSpc>
        <a:spcBef>
          <a:spcPts val="556"/>
        </a:spcBef>
        <a:buFont typeface="Wingdings" panose="05000000000000000000" pitchFamily="2" charset="2"/>
        <a:buChar char="§"/>
        <a:defRPr sz="2001" kern="1200">
          <a:solidFill>
            <a:schemeClr val="tx1"/>
          </a:solidFill>
          <a:latin typeface="+mn-lt"/>
          <a:ea typeface="+mn-ea"/>
          <a:cs typeface="+mn-cs"/>
        </a:defRPr>
      </a:lvl1pPr>
      <a:lvl2pPr marL="764199" indent="-256067" algn="l" defTabSz="1016190" rtl="0" eaLnBrk="1" latinLnBrk="0" hangingPunct="1">
        <a:lnSpc>
          <a:spcPct val="103000"/>
        </a:lnSpc>
        <a:spcBef>
          <a:spcPts val="556"/>
        </a:spcBef>
        <a:buFont typeface="Symbol" panose="05050102010706020507" pitchFamily="18" charset="2"/>
        <a:buChar char="-"/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1272331" indent="-256067" algn="l" defTabSz="1016190" rtl="0" eaLnBrk="1" latinLnBrk="0" hangingPunct="1">
        <a:lnSpc>
          <a:spcPct val="102000"/>
        </a:lnSpc>
        <a:spcBef>
          <a:spcPts val="556"/>
        </a:spcBef>
        <a:buFont typeface="Symbol" panose="05050102010706020507" pitchFamily="18" charset="2"/>
        <a:buChar char="-"/>
        <a:defRPr sz="1556" kern="1200">
          <a:solidFill>
            <a:schemeClr val="tx1"/>
          </a:solidFill>
          <a:latin typeface="+mn-lt"/>
          <a:ea typeface="+mn-ea"/>
          <a:cs typeface="+mn-cs"/>
        </a:defRPr>
      </a:lvl3pPr>
      <a:lvl4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4pPr>
      <a:lvl5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5pPr>
      <a:lvl6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6pPr>
      <a:lvl7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7pPr>
      <a:lvl8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8pPr>
      <a:lvl9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1pPr>
      <a:lvl2pPr marL="50809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1016190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52428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4pPr>
      <a:lvl5pPr marL="2032378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5pPr>
      <a:lvl6pPr marL="254047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3048568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556663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4064759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52F04-8C12-AC5C-579E-C5F0AE2AAB15}"/>
              </a:ext>
            </a:extLst>
          </p:cNvPr>
          <p:cNvSpPr txBox="1"/>
          <p:nvPr/>
        </p:nvSpPr>
        <p:spPr>
          <a:xfrm>
            <a:off x="3047223" y="4015882"/>
            <a:ext cx="6097554" cy="9498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8000" b="1" i="0" dirty="0">
                <a:solidFill>
                  <a:srgbClr val="424242"/>
                </a:solidFill>
                <a:effectLst/>
                <a:latin typeface="Bosch Office Sans" pitchFamily="2" charset="0"/>
                <a:cs typeface="Times New Roman" panose="02020603050405020304" pitchFamily="18" charset="0"/>
              </a:rPr>
              <a:t>Order-Kraft</a:t>
            </a:r>
          </a:p>
          <a:p>
            <a:pPr algn="just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endParaRPr lang="en-US" sz="8000" b="0" i="0" dirty="0">
              <a:solidFill>
                <a:srgbClr val="424242"/>
              </a:solidFill>
              <a:effectLst/>
              <a:latin typeface="Bosch Office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36F1C-B6B6-F5E4-0DD0-B512C9322425}"/>
              </a:ext>
            </a:extLst>
          </p:cNvPr>
          <p:cNvSpPr txBox="1"/>
          <p:nvPr/>
        </p:nvSpPr>
        <p:spPr>
          <a:xfrm>
            <a:off x="1586768" y="4853860"/>
            <a:ext cx="90184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DE1B3E"/>
                </a:solidFill>
                <a:latin typeface="Bosch Office Sans" pitchFamily="2" charset="0"/>
                <a:ea typeface="+mj-lt"/>
                <a:cs typeface="Times New Roman" panose="02020603050405020304" pitchFamily="18" charset="0"/>
              </a:rPr>
              <a:t>	  Next-Gen Order Management System</a:t>
            </a:r>
          </a:p>
          <a:p>
            <a:r>
              <a:rPr lang="en-US" sz="2800" dirty="0">
                <a:solidFill>
                  <a:srgbClr val="DE1B3E"/>
                </a:solidFill>
                <a:latin typeface="Bosch Office Sans" pitchFamily="2" charset="0"/>
                <a:ea typeface="+mj-lt"/>
                <a:cs typeface="Times New Roman" panose="02020603050405020304" pitchFamily="18" charset="0"/>
              </a:rPr>
              <a:t>		 for Manufacturing Efficiency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2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B65D-8A6D-7A26-AB20-60D773376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177" y="2892853"/>
            <a:ext cx="10301466" cy="334079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0719F-CEA9-75A9-E79D-F5204749D7CA}"/>
              </a:ext>
            </a:extLst>
          </p:cNvPr>
          <p:cNvSpPr txBox="1"/>
          <p:nvPr/>
        </p:nvSpPr>
        <p:spPr>
          <a:xfrm>
            <a:off x="8129856" y="2797276"/>
            <a:ext cx="30100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>
                <a:latin typeface="Bosch Office Sans" pitchFamily="2" charset="0"/>
              </a:rPr>
            </a:br>
            <a:r>
              <a:rPr lang="en-US" sz="2800" b="1" dirty="0">
                <a:latin typeface="Bosch Office Sans" pitchFamily="2" charset="0"/>
                <a:cs typeface="Times New Roman" panose="02020603050405020304" pitchFamily="18" charset="0"/>
              </a:rPr>
              <a:t>Squad – 3</a:t>
            </a:r>
            <a:br>
              <a:rPr lang="en-US" sz="2800" b="1" dirty="0"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Bosch Office Sans" pitchFamily="2" charset="0"/>
                <a:cs typeface="Times New Roman" panose="02020603050405020304" pitchFamily="18" charset="0"/>
              </a:rPr>
              <a:t>Team Members:</a:t>
            </a:r>
          </a:p>
          <a:p>
            <a:br>
              <a:rPr lang="en-US" sz="1800" b="1" dirty="0"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1800" dirty="0">
                <a:latin typeface="Bosch Office Sans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  <a:t>Tejaswini</a:t>
            </a:r>
            <a:b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  <a:t> Lokesh</a:t>
            </a:r>
            <a:b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  <a:t> Sai Vivek</a:t>
            </a:r>
            <a:b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  <a:t> Rahamthulla</a:t>
            </a:r>
            <a:b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  <a:t> Yogeshwaran</a:t>
            </a:r>
            <a:br>
              <a:rPr lang="en-US" sz="1800" dirty="0">
                <a:solidFill>
                  <a:srgbClr val="00B050"/>
                </a:solidFill>
                <a:latin typeface="Bosch Office Sans" pitchFamily="2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B050"/>
              </a:solidFill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05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08E20-7AF9-64E6-26CE-A5790B069E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066" y="288074"/>
            <a:ext cx="11735396" cy="1008259"/>
          </a:xfrm>
        </p:spPr>
        <p:txBody>
          <a:bodyPr/>
          <a:lstStyle/>
          <a:p>
            <a:r>
              <a:rPr lang="en-US" sz="4000" b="1" dirty="0" err="1">
                <a:solidFill>
                  <a:srgbClr val="FF0000"/>
                </a:solidFill>
                <a:latin typeface="+mj-lt"/>
                <a:ea typeface="+mj-lt"/>
                <a:cs typeface="Times New Roman" panose="02020603050405020304" pitchFamily="18" charset="0"/>
              </a:rPr>
              <a:t>TechStack</a:t>
            </a:r>
            <a:endParaRPr lang="en-US" sz="4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64F98-1767-FA2D-7EA1-8203A51C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2BECF0-3420-B0EB-69E7-BC9E2E877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423411"/>
              </p:ext>
            </p:extLst>
          </p:nvPr>
        </p:nvGraphicFramePr>
        <p:xfrm>
          <a:off x="2049924" y="1174728"/>
          <a:ext cx="7634850" cy="477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950">
                  <a:extLst>
                    <a:ext uri="{9D8B030D-6E8A-4147-A177-3AD203B41FA5}">
                      <a16:colId xmlns:a16="http://schemas.microsoft.com/office/drawing/2014/main" val="4170516977"/>
                    </a:ext>
                  </a:extLst>
                </a:gridCol>
                <a:gridCol w="3516739">
                  <a:extLst>
                    <a:ext uri="{9D8B030D-6E8A-4147-A177-3AD203B41FA5}">
                      <a16:colId xmlns:a16="http://schemas.microsoft.com/office/drawing/2014/main" val="2505463501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1679372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Software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712324"/>
                  </a:ext>
                </a:extLst>
              </a:tr>
              <a:tr h="100133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Angular (VS 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20.1.3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34741"/>
                  </a:ext>
                </a:extLst>
              </a:tr>
              <a:tr h="516481">
                <a:tc rowSpan="2"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  <a:cs typeface="Times New Roman" panose="02020603050405020304" pitchFamily="18" charset="0"/>
                        </a:rPr>
                        <a:t>JDK 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444479"/>
                  </a:ext>
                </a:extLst>
              </a:tr>
              <a:tr h="9583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Spring Tool Suite (STS)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208528"/>
                  </a:ext>
                </a:extLst>
              </a:tr>
              <a:tr h="91824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Oracle</a:t>
                      </a:r>
                    </a:p>
                    <a:p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819428"/>
                  </a:ext>
                </a:extLst>
              </a:tr>
              <a:tr h="101249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Soap UI</a:t>
                      </a:r>
                    </a:p>
                    <a:p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5.9.0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2361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E7D0767-DEC2-690C-E5DA-B7E6B289F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039" y="1954237"/>
            <a:ext cx="739770" cy="529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6E19C0-26A2-C3D2-E472-E9C22C911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039" y="3423649"/>
            <a:ext cx="541751" cy="529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304E19-A379-5E75-330F-F1E4CCB86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039" y="4363349"/>
            <a:ext cx="473953" cy="529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B6AC83-B7AB-1418-DBAF-7912764B4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039" y="5341544"/>
            <a:ext cx="622283" cy="5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9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7C113-6855-6F6D-30D8-2072D91159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066" y="288074"/>
            <a:ext cx="11735396" cy="1008259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Project Overview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45555-CB77-F397-0A3A-31FC9ECCF5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800" dirty="0" err="1">
                <a:cs typeface="Times New Roman" panose="02020603050405020304" pitchFamily="18" charset="0"/>
              </a:rPr>
              <a:t>OrderKraft</a:t>
            </a:r>
            <a:r>
              <a:rPr lang="en-US" sz="1800" dirty="0">
                <a:cs typeface="Times New Roman" panose="02020603050405020304" pitchFamily="18" charset="0"/>
              </a:rPr>
              <a:t> is an integrated procurement and order management platform designed to help businesses streamline operations, reduce manual effort, and gain visibility across their supply chain.</a:t>
            </a: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    It addresses common procurement challenges by: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anose="02020603050405020304" pitchFamily="18" charset="0"/>
              </a:rPr>
              <a:t> Automating repetitive workflows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anose="02020603050405020304" pitchFamily="18" charset="0"/>
              </a:rPr>
              <a:t>  Enabling real-time tracking of orders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anose="02020603050405020304" pitchFamily="18" charset="0"/>
              </a:rPr>
              <a:t>Providing data-driven decision-making tools through intelligent dashboards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anose="02020603050405020304" pitchFamily="18" charset="0"/>
              </a:rPr>
              <a:t>Preventing stock shortages and overstock situations.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41562-8291-F2BA-EB42-72187A06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11553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41898-371D-9594-ED49-E64320C714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800" b="1" dirty="0">
                <a:cs typeface="Times New Roman" panose="02020603050405020304" pitchFamily="18" charset="0"/>
              </a:rPr>
              <a:t>Admin: </a:t>
            </a:r>
            <a:r>
              <a:rPr lang="en-US" sz="1800" dirty="0">
                <a:cs typeface="Times New Roman" panose="02020603050405020304" pitchFamily="18" charset="0"/>
              </a:rPr>
              <a:t>Controls user roles, system setup, and accesses all reports. </a:t>
            </a:r>
          </a:p>
          <a:p>
            <a:r>
              <a:rPr lang="en-US" sz="1800" b="1" dirty="0">
                <a:cs typeface="Times New Roman" panose="02020603050405020304" pitchFamily="18" charset="0"/>
              </a:rPr>
              <a:t>Supplier: </a:t>
            </a:r>
            <a:r>
              <a:rPr lang="en-US" sz="1800" dirty="0">
                <a:cs typeface="Times New Roman" panose="02020603050405020304" pitchFamily="18" charset="0"/>
              </a:rPr>
              <a:t>Provides materials, updates delivery status, and is evaluated on performance. </a:t>
            </a:r>
          </a:p>
          <a:p>
            <a:r>
              <a:rPr lang="en-US" sz="1800" b="1" dirty="0">
                <a:cs typeface="Times New Roman" panose="02020603050405020304" pitchFamily="18" charset="0"/>
              </a:rPr>
              <a:t>Procurement Officer: </a:t>
            </a:r>
            <a:r>
              <a:rPr lang="en-US" sz="1800" dirty="0">
                <a:cs typeface="Times New Roman" panose="02020603050405020304" pitchFamily="18" charset="0"/>
              </a:rPr>
              <a:t>Creates purchase orders, tracks order status, manages suppliers and payments. </a:t>
            </a:r>
          </a:p>
          <a:p>
            <a:r>
              <a:rPr lang="en-US" sz="1800" b="1" dirty="0">
                <a:cs typeface="Times New Roman" panose="02020603050405020304" pitchFamily="18" charset="0"/>
              </a:rPr>
              <a:t>Inventory Manager: </a:t>
            </a:r>
            <a:r>
              <a:rPr lang="en-US" sz="1800" dirty="0">
                <a:cs typeface="Times New Roman" panose="02020603050405020304" pitchFamily="18" charset="0"/>
              </a:rPr>
              <a:t>Manages stock levels, receives alerts, and generates inventory reports. </a:t>
            </a:r>
          </a:p>
          <a:p>
            <a:r>
              <a:rPr lang="en-US" sz="1800" b="1" dirty="0">
                <a:cs typeface="Times New Roman" panose="02020603050405020304" pitchFamily="18" charset="0"/>
              </a:rPr>
              <a:t>Production Manager: </a:t>
            </a:r>
            <a:r>
              <a:rPr lang="en-US" sz="1800" dirty="0">
                <a:cs typeface="Times New Roman" panose="02020603050405020304" pitchFamily="18" charset="0"/>
              </a:rPr>
              <a:t>Plans and tracks production tasks, ensures deadlines are met.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FA393-EAC6-94F1-F443-9907C799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0C76D6-8A3A-48CE-1819-D779C3C889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066" y="386397"/>
            <a:ext cx="11735396" cy="909936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User Roles in </a:t>
            </a:r>
            <a:r>
              <a:rPr lang="en-US" sz="4000" b="1" dirty="0" err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OrderKraft</a:t>
            </a:r>
            <a:endParaRPr lang="en-US" sz="4000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18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4A678-00A4-FBEB-5AC1-6E23FD1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5A1433-27BE-1E01-2F43-7691B87FCB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6724" y="158583"/>
            <a:ext cx="11735396" cy="1008259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Key Features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EFD540-118E-D9F6-6B73-EC433418A4D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518748" y="1166842"/>
            <a:ext cx="108690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Create, update, and track orders seamlessly for efficient operations.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Inventory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Monitor stock in real time with alerts to prevent shortages or excess.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Supplier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Manage suppliers, track performance, and handle contracts.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Production Scheduling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Plan and oversee production tasks to meet deadlines.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Shipping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Connect with delivery partners for faster, streamlined tracking.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Reports &amp;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Access interactive reports for actionable insights and performance tracking.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Secure data by providing role-specific access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65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4011-7866-047F-298E-EC425EB6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596" y="2401964"/>
            <a:ext cx="2883755" cy="432111"/>
          </a:xfrm>
        </p:spPr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1.1</a:t>
            </a:r>
            <a:r>
              <a:rPr lang="en-US" sz="3100" b="1" dirty="0">
                <a:solidFill>
                  <a:srgbClr val="FF0000"/>
                </a:solidFill>
              </a:rPr>
              <a:t>Registration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69C6D-233A-CFF7-76DB-BF312A1C1A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b="1" dirty="0">
                <a:latin typeface="+mj-lt"/>
              </a:rPr>
              <a:t>Use Case 1: User Authentication and Role Management</a:t>
            </a:r>
            <a:endParaRPr lang="en-US" sz="3200" dirty="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0B219-8B64-2FB5-DB97-BF907712CB3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903" y="3144068"/>
            <a:ext cx="6664788" cy="2515202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1800" b="1" dirty="0">
                <a:ea typeface="+mn-lt"/>
                <a:cs typeface="+mn-lt"/>
              </a:rPr>
              <a:t>Admin Registration </a:t>
            </a:r>
            <a:r>
              <a:rPr lang="en-US" sz="1800" dirty="0">
                <a:ea typeface="+mn-lt"/>
                <a:cs typeface="+mn-lt"/>
              </a:rPr>
              <a:t>– Adds new users (Admin, Inventory Managers, Procurement Officers, Suppliers, Production Managers).</a:t>
            </a:r>
          </a:p>
          <a:p>
            <a:pPr marL="255905" indent="-255905"/>
            <a:r>
              <a:rPr lang="en-US" sz="1800" b="1" dirty="0">
                <a:ea typeface="+mn-lt"/>
                <a:cs typeface="+mn-lt"/>
              </a:rPr>
              <a:t>Role Assignment </a:t>
            </a:r>
            <a:r>
              <a:rPr lang="en-US" sz="1800" dirty="0">
                <a:ea typeface="+mn-lt"/>
                <a:cs typeface="+mn-lt"/>
              </a:rPr>
              <a:t>– Defines and assigns roles to set user permissions. </a:t>
            </a:r>
          </a:p>
          <a:p>
            <a:pPr marL="255905" indent="-255905"/>
            <a:r>
              <a:rPr lang="en-US" sz="1800" b="1" dirty="0"/>
              <a:t>Email Verification </a:t>
            </a:r>
            <a:r>
              <a:rPr lang="en-US" sz="1800" dirty="0"/>
              <a:t>– Sends verification email to confirm identity and activate account.</a:t>
            </a:r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9C909-F2F4-77D6-9B44-66B6CDCE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7E4D27-8E29-6A34-1594-A2A41C3D3175}"/>
              </a:ext>
            </a:extLst>
          </p:cNvPr>
          <p:cNvSpPr txBox="1">
            <a:spLocks/>
          </p:cNvSpPr>
          <p:nvPr/>
        </p:nvSpPr>
        <p:spPr>
          <a:xfrm>
            <a:off x="388273" y="963405"/>
            <a:ext cx="1776429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7E4C0A-BDC7-55A0-CB5D-8673AAC5322B}"/>
              </a:ext>
            </a:extLst>
          </p:cNvPr>
          <p:cNvSpPr txBox="1">
            <a:spLocks/>
          </p:cNvSpPr>
          <p:nvPr/>
        </p:nvSpPr>
        <p:spPr>
          <a:xfrm>
            <a:off x="228066" y="831858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E36161-DC32-3219-6705-F98758ADD301}"/>
              </a:ext>
            </a:extLst>
          </p:cNvPr>
          <p:cNvSpPr txBox="1">
            <a:spLocks/>
          </p:cNvSpPr>
          <p:nvPr/>
        </p:nvSpPr>
        <p:spPr>
          <a:xfrm>
            <a:off x="388273" y="977878"/>
            <a:ext cx="6665670" cy="1124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</a:rPr>
              <a:t>Purpose: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ea typeface="+mj-lt"/>
                <a:cs typeface="+mj-lt"/>
              </a:rPr>
              <a:t>To ensure secure user onboarding, manage login credentials, assign roles, and control access to different system functionalities.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C4368C0-8BC4-9280-8B04-381864D780BF}"/>
              </a:ext>
            </a:extLst>
          </p:cNvPr>
          <p:cNvSpPr txBox="1">
            <a:spLocks/>
          </p:cNvSpPr>
          <p:nvPr/>
        </p:nvSpPr>
        <p:spPr>
          <a:xfrm>
            <a:off x="388273" y="968268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7A1F0E-A225-9DD7-1707-1B668BFAD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17" y="840827"/>
            <a:ext cx="4236919" cy="544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703C-5043-7B86-FCC1-15BDCB2B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1.2</a:t>
            </a:r>
            <a:r>
              <a:rPr lang="en-US" sz="3100" b="1" dirty="0">
                <a:solidFill>
                  <a:srgbClr val="FF0000"/>
                </a:solidFill>
              </a:rPr>
              <a:t> Secure Login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B07FC-96E0-F432-5BC1-2A65B33F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0E17E62-B8A9-7F21-B54A-201C7FAC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307" y="712783"/>
            <a:ext cx="4413113" cy="556632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68889D3-9C94-DD68-01ED-C0D0A14B8B9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8065" y="1507947"/>
            <a:ext cx="58679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Users log in with username and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Session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Backend creates and</a:t>
            </a:r>
            <a:r>
              <a:rPr lang="en-US" altLang="en-US" sz="1800" dirty="0"/>
              <a:t> manages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sessions for secure, continuous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7E00B-2E42-38D3-964B-3DAF9518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9ECD07-5365-15B9-3250-CD2093217365}"/>
              </a:ext>
            </a:extLst>
          </p:cNvPr>
          <p:cNvSpPr txBox="1">
            <a:spLocks/>
          </p:cNvSpPr>
          <p:nvPr/>
        </p:nvSpPr>
        <p:spPr>
          <a:xfrm>
            <a:off x="228066" y="272307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rgbClr val="FF0000"/>
                </a:solidFill>
              </a:rPr>
              <a:t>1.3</a:t>
            </a:r>
            <a:r>
              <a:rPr lang="en-US" sz="3100" b="1" dirty="0">
                <a:solidFill>
                  <a:srgbClr val="FF0000"/>
                </a:solidFill>
              </a:rPr>
              <a:t> Role Assignment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ADF5DA0-8ED1-36AD-2F01-EF1829032C0E}"/>
              </a:ext>
            </a:extLst>
          </p:cNvPr>
          <p:cNvSpPr txBox="1">
            <a:spLocks/>
          </p:cNvSpPr>
          <p:nvPr/>
        </p:nvSpPr>
        <p:spPr>
          <a:xfrm>
            <a:off x="388273" y="3230168"/>
            <a:ext cx="5174358" cy="8549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AA3C291-340D-C469-A658-672A55C03D68}"/>
              </a:ext>
            </a:extLst>
          </p:cNvPr>
          <p:cNvSpPr txBox="1">
            <a:spLocks/>
          </p:cNvSpPr>
          <p:nvPr/>
        </p:nvSpPr>
        <p:spPr>
          <a:xfrm>
            <a:off x="388273" y="3219756"/>
            <a:ext cx="5174358" cy="8549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E300D8-1879-3782-56BF-86F45969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563" y="804863"/>
            <a:ext cx="5343525" cy="28670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1B1FD90-5964-9A63-0F1D-B07B9594F61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8600" y="1130721"/>
            <a:ext cx="600997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 Assignment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Admin assigns and updates</a:t>
            </a:r>
            <a:endParaRPr lang="en-US" altLang="en-US" sz="1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user roles as needed.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 Permissions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System applies permissions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based on assigned role.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Action 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Admin selects role, system applies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permissions, and changes update instantly.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700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7F43-5193-FD9A-97E0-5960983B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84519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1.4</a:t>
            </a:r>
            <a:r>
              <a:rPr lang="en-US" sz="3100" b="1" dirty="0">
                <a:solidFill>
                  <a:srgbClr val="FF0000"/>
                </a:solidFill>
              </a:rPr>
              <a:t> Password Reset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6D349-5B60-9EE4-AF2E-E4E00B6E6D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31084"/>
            <a:ext cx="7286436" cy="2276188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select the "Forgot Password" option to reset their password.</a:t>
            </a:r>
            <a:endParaRPr lang="en-US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 one-time password (OTP) is sent to the user’s registered email for verification.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After verifying the OTP, users can create a new password.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new password must follow the system’s security policy.</a:t>
            </a:r>
            <a:endParaRPr lang="en-US" dirty="0"/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64E55-DA23-6786-5C6B-3ED53E91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pic>
        <p:nvPicPr>
          <p:cNvPr id="6" name="Picture 5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C433529-9430-B7FD-2424-0D2CB3EA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8" y="3205163"/>
            <a:ext cx="5124450" cy="2809875"/>
          </a:xfrm>
          <a:prstGeom prst="rect">
            <a:avLst/>
          </a:prstGeom>
        </p:spPr>
      </p:pic>
      <p:pic>
        <p:nvPicPr>
          <p:cNvPr id="8" name="Picture 7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F4A2DCB4-D2A4-8105-584E-7B7D0ADE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463" y="690563"/>
            <a:ext cx="43148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9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C706-9128-24A3-B1BC-F26AE87E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488362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1.5 </a:t>
            </a:r>
            <a:r>
              <a:rPr lang="en-US" sz="3100" b="1" dirty="0">
                <a:solidFill>
                  <a:srgbClr val="FF0000"/>
                </a:solidFill>
              </a:rPr>
              <a:t>Password Policy Enforcement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81D75-9CDA-F790-1EC3-A950F2B8EF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440370"/>
            <a:ext cx="11735396" cy="1615346"/>
          </a:xfrm>
        </p:spPr>
        <p:txBody>
          <a:bodyPr/>
          <a:lstStyle/>
          <a:p>
            <a:r>
              <a:rPr lang="en-US" dirty="0"/>
              <a:t>Minimum 8 characters, at least 1 uppercase &amp; 1 number.</a:t>
            </a:r>
          </a:p>
          <a:p>
            <a:r>
              <a:rPr lang="en-US" dirty="0"/>
              <a:t>Real-time validation feedback during input.</a:t>
            </a:r>
          </a:p>
          <a:p>
            <a:r>
              <a:rPr lang="en-US" dirty="0"/>
              <a:t>Prevents reuse of old passwords.</a:t>
            </a:r>
          </a:p>
          <a:p>
            <a:r>
              <a:rPr lang="en-US" dirty="0"/>
              <a:t>Configurable rules for future updates.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AE88F-87B3-65B4-A910-DB435E45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07701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3D8B-5ADB-BB13-CA57-DCABF34A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16968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1.6 </a:t>
            </a:r>
            <a:r>
              <a:rPr lang="en-US" sz="3100" b="1" dirty="0">
                <a:solidFill>
                  <a:srgbClr val="FF0000"/>
                </a:solidFill>
              </a:rPr>
              <a:t>Account Lockout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A8A2C-C8B4-0A8A-4173-76BDA44C0E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072394"/>
            <a:ext cx="11735396" cy="1705530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The account is locked after 5 incorrect login attempts.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user receives an email alert when their account is locked.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Admin can unlock the account manually, or it can unlock automatically after a set cooldown period.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66AE4-7579-7F9E-2936-99541E7A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747017-102E-FD42-320A-4BEE51D2890B}"/>
              </a:ext>
            </a:extLst>
          </p:cNvPr>
          <p:cNvSpPr txBox="1">
            <a:spLocks/>
          </p:cNvSpPr>
          <p:nvPr/>
        </p:nvSpPr>
        <p:spPr>
          <a:xfrm>
            <a:off x="388273" y="3101239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rgbClr val="FF0000"/>
                </a:solidFill>
              </a:rPr>
              <a:t>1.7</a:t>
            </a:r>
            <a:r>
              <a:rPr lang="en-US" sz="3100" b="1" dirty="0">
                <a:solidFill>
                  <a:srgbClr val="FF0000"/>
                </a:solidFill>
              </a:rPr>
              <a:t> Session Timeout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5294FD3-940F-2C9C-EE71-36D560805EDE}"/>
              </a:ext>
            </a:extLst>
          </p:cNvPr>
          <p:cNvSpPr txBox="1">
            <a:spLocks/>
          </p:cNvSpPr>
          <p:nvPr/>
        </p:nvSpPr>
        <p:spPr>
          <a:xfrm>
            <a:off x="388273" y="3856665"/>
            <a:ext cx="11735396" cy="17055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indent="-255905"/>
            <a:r>
              <a:rPr lang="en-US" sz="2000" dirty="0">
                <a:ea typeface="+mn-lt"/>
                <a:cs typeface="+mn-lt"/>
              </a:rPr>
              <a:t>Users are automatically logged out after 15 minutes of no activity.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Session data is cleared to keep accounts secure.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 warning message appears before the logout happens.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This feature works for all user roles.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75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035C-8692-4126-4735-9FC5D7C4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72945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FF0000"/>
                </a:solidFill>
              </a:rPr>
              <a:t>1.8</a:t>
            </a:r>
            <a:r>
              <a:rPr lang="en-US" sz="3100" b="1" dirty="0">
                <a:solidFill>
                  <a:srgbClr val="FF0000"/>
                </a:solidFill>
              </a:rPr>
              <a:t> User Profile Update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A8898-EE58-8E50-7088-C904A0B501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053344"/>
            <a:ext cx="5302708" cy="416464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edit personal information like phone number and address.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All changes are checked for accuracy before saving.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Sensitive changes, like updating an email address, may need verification.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keeps a record of all profile updates.</a:t>
            </a:r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CA93-D74A-4038-7B8F-FC63652D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42B0BB-C33C-9880-9FB6-A95B6AD7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23" y="375272"/>
            <a:ext cx="5863258" cy="566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3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5950-A74D-8921-F6D9-6A5EA416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894516"/>
            <a:ext cx="11631142" cy="1534918"/>
          </a:xfrm>
        </p:spPr>
        <p:txBody>
          <a:bodyPr/>
          <a:lstStyle/>
          <a:p>
            <a:r>
              <a:rPr lang="en-US" sz="2000" b="1" dirty="0">
                <a:solidFill>
                  <a:srgbClr val="FF0000"/>
                </a:solidFill>
              </a:rPr>
              <a:t>Purpose:</a:t>
            </a:r>
            <a:br>
              <a:rPr lang="en-US" sz="2000" b="1" dirty="0">
                <a:solidFill>
                  <a:srgbClr val="DE1B3E"/>
                </a:solidFill>
              </a:rPr>
            </a:br>
            <a:br>
              <a:rPr lang="en-US" sz="2000" b="1" dirty="0"/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To help users, especially Procurement Officers, easily create, update, track, and cancel orders for smooth and efficient order processing.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A501D-3FD9-BD9A-CF1D-D0204C9C7F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066" y="274666"/>
            <a:ext cx="11735396" cy="432111"/>
          </a:xfrm>
        </p:spPr>
        <p:txBody>
          <a:bodyPr/>
          <a:lstStyle/>
          <a:p>
            <a:r>
              <a:rPr lang="en-US" b="1" dirty="0"/>
              <a:t>Use Case 2: Order Creation and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9CF4F-B304-E58C-0CF1-3464C934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2CBB2-FBB8-5CC0-84D5-3B60CB86DF12}"/>
              </a:ext>
            </a:extLst>
          </p:cNvPr>
          <p:cNvSpPr txBox="1"/>
          <p:nvPr/>
        </p:nvSpPr>
        <p:spPr>
          <a:xfrm>
            <a:off x="3846545" y="5701204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Procurement Officer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9B5E2-9B6F-8CF5-81FE-5AA869F0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44" y="2227621"/>
            <a:ext cx="9339944" cy="34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83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EFFE-A590-2267-CEF3-1448270B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02606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1.1 </a:t>
            </a:r>
            <a:r>
              <a:rPr lang="en-US" sz="3100" b="1" dirty="0">
                <a:solidFill>
                  <a:srgbClr val="DE1B3E"/>
                </a:solidFill>
              </a:rPr>
              <a:t>Create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8D721-34DF-B81A-421B-F3FDBB33CA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0591" y="3256280"/>
            <a:ext cx="6038412" cy="171992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Procurement Officer enters item and supplier information.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System validates the details and saves the order.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D8FFF-6460-E2CD-98A4-E7CD3922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5A5BD2B-15CA-5D5F-5376-6E1147575660}"/>
              </a:ext>
            </a:extLst>
          </p:cNvPr>
          <p:cNvSpPr txBox="1">
            <a:spLocks/>
          </p:cNvSpPr>
          <p:nvPr/>
        </p:nvSpPr>
        <p:spPr>
          <a:xfrm>
            <a:off x="481579" y="3638958"/>
            <a:ext cx="4222636" cy="11103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524C6BD-AF24-4BDF-A7E0-F426A268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838200"/>
            <a:ext cx="6715125" cy="2000250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DCE4ADB-88FE-3196-9FBD-AABEEAFC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88" y="304800"/>
            <a:ext cx="38862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5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A5BC-1B6C-582A-3BA4-92A0F973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393613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1.2 </a:t>
            </a:r>
            <a:r>
              <a:rPr lang="en-US" sz="3100" b="1" dirty="0">
                <a:solidFill>
                  <a:srgbClr val="DE1B3E"/>
                </a:solidFill>
              </a:rPr>
              <a:t>View Order History</a:t>
            </a:r>
            <a:br>
              <a:rPr lang="en-US" sz="3100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F7575-ACED-1329-91B6-012A64F1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16</a:t>
            </a:fld>
            <a:endParaRPr lang="en-US" noProof="1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811F98A-A8E7-CC08-CBF3-73FB1FCB575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8541" y="1104467"/>
            <a:ext cx="10670089" cy="1125549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see previous orders and filter them by date, status, or supplier.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Helps users quickly find and track past orders.</a:t>
            </a:r>
            <a:endParaRPr lang="en-US" dirty="0">
              <a:ea typeface="+mn-lt"/>
              <a:cs typeface="+mn-lt"/>
            </a:endParaRP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DB5851-B8D0-AF7F-0BC0-9135244CD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0017"/>
            <a:ext cx="10658475" cy="326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6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595F-1B7A-4278-F598-71FCEC56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123344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1.3</a:t>
            </a:r>
            <a:r>
              <a:rPr lang="en-US" sz="3100" b="1" dirty="0">
                <a:solidFill>
                  <a:srgbClr val="DE1B3E"/>
                </a:solidFill>
              </a:rPr>
              <a:t> Update Order Details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079DA-CEC5-C7D9-E7E0-ADDCB2914E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42932"/>
            <a:ext cx="6487121" cy="1351038"/>
          </a:xfrm>
        </p:spPr>
        <p:txBody>
          <a:bodyPr vert="horz" lIns="0" tIns="0" rIns="0" bIns="0" rtlCol="0" anchor="t">
            <a:no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/>
              <a:t>Users can change the quantity, delivery date, or other order details.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The system checks the updates and saves them.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691F0-F151-727E-493F-1258A34A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E0CB41-D5FD-2276-8384-416EAEE3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33375"/>
            <a:ext cx="4419600" cy="5705475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8F3A7271-0822-6BC7-7B64-9EABF3DF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749" y="2527990"/>
            <a:ext cx="20669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38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01E8-4352-243A-9900-7ADB7995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1" y="488362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1.4 </a:t>
            </a:r>
            <a:r>
              <a:rPr lang="en-US" sz="3100" b="1" dirty="0">
                <a:solidFill>
                  <a:srgbClr val="DE1B3E"/>
                </a:solidFill>
              </a:rPr>
              <a:t>Track Order Status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B440A-3A92-A64A-9B4A-766C520BDC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215269"/>
            <a:ext cx="6461983" cy="1402551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Suppliers or systems send real-time order updates.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Users can check the current status and expected delivery time.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A8F7C-E62E-68E3-1462-6214E470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18936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2CF0-BC12-77A6-FE87-83B415FED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1.5</a:t>
            </a:r>
            <a:r>
              <a:rPr lang="en-US" sz="3100" b="1" dirty="0">
                <a:solidFill>
                  <a:srgbClr val="DE1B3E"/>
                </a:solidFill>
              </a:rPr>
              <a:t> Cancel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32763-E6B4-8339-632A-49134EFF02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885393"/>
            <a:ext cx="5867934" cy="225377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cancel orders that are no longer required.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changes the order status and sends notifications to stakeholders.</a:t>
            </a:r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379BB-E4CE-CE5C-5EF4-33D74F12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87850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562-A426-BE33-B325-083E4A1B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1.6 </a:t>
            </a:r>
            <a:r>
              <a:rPr lang="en-US" sz="3100" b="1" dirty="0">
                <a:solidFill>
                  <a:srgbClr val="DE1B3E"/>
                </a:solidFill>
              </a:rPr>
              <a:t>Order Payment Integration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F4039-270F-1338-694C-E29FC73230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57318"/>
            <a:ext cx="11427640" cy="95226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>
                <a:ea typeface="+mn-lt"/>
                <a:cs typeface="+mn-lt"/>
              </a:rPr>
              <a:t>The system connects to a payment gateway to handle payments.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Order status is updated based on whether the payment succeeds or fails.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41F53-2A01-A37E-98D4-064B7644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83299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46E3-023F-DDF0-89AB-DF873AA1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1.7 </a:t>
            </a:r>
            <a:r>
              <a:rPr lang="en-US" sz="3100" b="1" dirty="0">
                <a:solidFill>
                  <a:srgbClr val="DE1B3E"/>
                </a:solidFill>
              </a:rPr>
              <a:t>Invoice Generation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2421B-63DA-E777-921F-3CB2157725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889613"/>
            <a:ext cx="6900522" cy="1949752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Admin can generate invoices for completed and paid orders.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Invoices can be downloaded or printed as needed.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98969-FF62-C0B3-5E3B-3DC47A3A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3003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DE09-5AFB-D439-6F25-B0C09A5A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b="1" dirty="0">
                <a:solidFill>
                  <a:srgbClr val="DE1B3E"/>
                </a:solidFill>
              </a:rPr>
              <a:t>1.8 Return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8F033-0816-D715-0FE2-95FA72D2ED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67424"/>
            <a:ext cx="5867934" cy="1924483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Customers can request a return for defective items.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updates inventory and changes the order status.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6F8DB-E8B4-C96A-EBB5-AB9747D6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48800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960C-9AE4-3E63-F445-4DDDDC3B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502" y="2019300"/>
            <a:ext cx="6202978" cy="2819400"/>
          </a:xfrm>
        </p:spPr>
        <p:txBody>
          <a:bodyPr/>
          <a:lstStyle/>
          <a:p>
            <a:r>
              <a:rPr lang="en-US" sz="7200" b="1" dirty="0">
                <a:solidFill>
                  <a:srgbClr val="DE1B3E"/>
                </a:solidFill>
              </a:rPr>
              <a:t>THANK -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C522-52C1-0604-7C0C-4482A283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567762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947</Words>
  <Application>Microsoft Office PowerPoint</Application>
  <PresentationFormat>Widescreen</PresentationFormat>
  <Paragraphs>157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Display</vt:lpstr>
      <vt:lpstr>Arial</vt:lpstr>
      <vt:lpstr>Bosch Office Sans</vt:lpstr>
      <vt:lpstr>Segoe Sans</vt:lpstr>
      <vt:lpstr>Symbol</vt:lpstr>
      <vt:lpstr>Times New Roman</vt:lpstr>
      <vt:lpstr>Wingdings</vt:lpstr>
      <vt:lpstr>Office Theme</vt:lpstr>
      <vt:lpstr>Bosch 2024</vt:lpstr>
      <vt:lpstr>PowerPoint Presentation</vt:lpstr>
      <vt:lpstr>          </vt:lpstr>
      <vt:lpstr>PowerPoint Presentation</vt:lpstr>
      <vt:lpstr>PowerPoint Presentation</vt:lpstr>
      <vt:lpstr>PowerPoint Presentation</vt:lpstr>
      <vt:lpstr>PowerPoint Presentation</vt:lpstr>
      <vt:lpstr>1.1Registration</vt:lpstr>
      <vt:lpstr>1.2 Secure Login</vt:lpstr>
      <vt:lpstr>PowerPoint Presentation</vt:lpstr>
      <vt:lpstr>1.4 Password Reset</vt:lpstr>
      <vt:lpstr>1.5 Password Policy Enforcement</vt:lpstr>
      <vt:lpstr>1.6 Account Lockout</vt:lpstr>
      <vt:lpstr>1.8 User Profile Update</vt:lpstr>
      <vt:lpstr>Purpose:  To help users, especially Procurement Officers, easily create, update, track, and cancel orders for smooth and efficient order processing. </vt:lpstr>
      <vt:lpstr>1.1 Create Order</vt:lpstr>
      <vt:lpstr>1.2 View Order History </vt:lpstr>
      <vt:lpstr>1.3 Update Order Details</vt:lpstr>
      <vt:lpstr>1.4 Track Order Status</vt:lpstr>
      <vt:lpstr>1.5 Cancel Order</vt:lpstr>
      <vt:lpstr>1.6 Order Payment Integration</vt:lpstr>
      <vt:lpstr>1.7 Invoice Generation</vt:lpstr>
      <vt:lpstr>1.8 Return Order</vt:lpstr>
      <vt:lpstr>THANK -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. (BD/DAD-DAN5)</dc:creator>
  <cp:lastModifiedBy>FIXED-TERM Sai Vivek Vetsa (BGSW/PJ-ETA-P)</cp:lastModifiedBy>
  <cp:revision>335</cp:revision>
  <dcterms:created xsi:type="dcterms:W3CDTF">2025-09-12T06:27:05Z</dcterms:created>
  <dcterms:modified xsi:type="dcterms:W3CDTF">2025-09-21T06:11:26Z</dcterms:modified>
</cp:coreProperties>
</file>